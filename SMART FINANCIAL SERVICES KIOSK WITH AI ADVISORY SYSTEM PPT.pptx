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6"/>
  </p:notesMasterIdLst>
  <p:sldIdLst>
    <p:sldId id="257" r:id="rId2"/>
    <p:sldId id="259" r:id="rId3"/>
    <p:sldId id="260" r:id="rId4"/>
    <p:sldId id="266" r:id="rId5"/>
    <p:sldId id="261" r:id="rId6"/>
    <p:sldId id="267" r:id="rId7"/>
    <p:sldId id="270" r:id="rId8"/>
    <p:sldId id="273" r:id="rId9"/>
    <p:sldId id="274" r:id="rId10"/>
    <p:sldId id="275" r:id="rId11"/>
    <p:sldId id="276" r:id="rId12"/>
    <p:sldId id="277" r:id="rId13"/>
    <p:sldId id="278" r:id="rId14"/>
    <p:sldId id="27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495" autoAdjust="0"/>
    <p:restoredTop sz="94602"/>
  </p:normalViewPr>
  <p:slideViewPr>
    <p:cSldViewPr snapToGrid="0" snapToObjects="1" showGuides="1">
      <p:cViewPr varScale="1">
        <p:scale>
          <a:sx n="78" d="100"/>
          <a:sy n="78" d="100"/>
        </p:scale>
        <p:origin x="72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rial Regular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rial Regular"/>
              </a:defRPr>
            </a:lvl1pPr>
          </a:lstStyle>
          <a:p>
            <a:fld id="{0239D73C-AF14-7643-8BC7-209F4FB10DDF}" type="datetimeFigureOut">
              <a:rPr lang="en-US" smtClean="0"/>
              <a:pPr/>
              <a:t>9/4/2026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rial Regular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rial Regular"/>
              </a:defRPr>
            </a:lvl1pPr>
          </a:lstStyle>
          <a:p>
            <a:fld id="{F52A25F9-16D3-E64A-8639-7B020C319E7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89730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Arial Regular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Arial Regular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Arial Regular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Arial Regular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Arial Regular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2A25F9-16D3-E64A-8639-7B020C319E7B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60572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658368" y="3968496"/>
            <a:ext cx="6638544" cy="1650381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buNone/>
              <a:defRPr sz="2800" b="0" i="0">
                <a:solidFill>
                  <a:schemeClr val="bg1"/>
                </a:solidFill>
                <a:latin typeface="Georgia" charset="0"/>
                <a:ea typeface="Georgia" charset="0"/>
                <a:cs typeface="Georgia" charset="0"/>
              </a:defRPr>
            </a:lvl1pPr>
          </a:lstStyle>
          <a:p>
            <a:pPr lvl="0"/>
            <a:r>
              <a:rPr lang="en-US" dirty="0"/>
              <a:t>Sub-topic</a:t>
            </a:r>
          </a:p>
        </p:txBody>
      </p:sp>
      <p:sp>
        <p:nvSpPr>
          <p:cNvPr id="14" name="Title 1"/>
          <p:cNvSpPr>
            <a:spLocks noGrp="1"/>
          </p:cNvSpPr>
          <p:nvPr>
            <p:ph type="ctrTitle" hasCustomPrompt="1"/>
          </p:nvPr>
        </p:nvSpPr>
        <p:spPr>
          <a:xfrm>
            <a:off x="658368" y="1490472"/>
            <a:ext cx="6638544" cy="2386584"/>
          </a:xfrm>
          <a:prstGeom prst="rect">
            <a:avLst/>
          </a:prstGeom>
          <a:ln>
            <a:noFill/>
          </a:ln>
        </p:spPr>
        <p:txBody>
          <a:bodyPr lIns="0" anchor="b">
            <a:noAutofit/>
          </a:bodyPr>
          <a:lstStyle>
            <a:lvl1pPr algn="l">
              <a:lnSpc>
                <a:spcPts val="5800"/>
              </a:lnSpc>
              <a:defRPr sz="6000" b="1" i="0" cap="all" baseline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Title</a:t>
            </a:r>
          </a:p>
        </p:txBody>
      </p:sp>
      <p:pic>
        <p:nvPicPr>
          <p:cNvPr id="8" name="Picture 7" descr="University at Buffalo, The State University of New York logo">
            <a:extLst>
              <a:ext uri="{FF2B5EF4-FFF2-40B4-BE49-F238E27FC236}">
                <a16:creationId xmlns:a16="http://schemas.microsoft.com/office/drawing/2014/main" id="{9C7DE7FF-FD86-434E-91D5-DF1AA23EE75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400" y="6041226"/>
            <a:ext cx="4800600" cy="356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5410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ctrTitle" hasCustomPrompt="1"/>
          </p:nvPr>
        </p:nvSpPr>
        <p:spPr>
          <a:xfrm>
            <a:off x="658368" y="1490663"/>
            <a:ext cx="6638544" cy="2387600"/>
          </a:xfrm>
          <a:prstGeom prst="rect">
            <a:avLst/>
          </a:prstGeom>
          <a:ln>
            <a:noFill/>
          </a:ln>
        </p:spPr>
        <p:txBody>
          <a:bodyPr lIns="0" anchor="b">
            <a:noAutofit/>
          </a:bodyPr>
          <a:lstStyle>
            <a:lvl1pPr algn="l">
              <a:lnSpc>
                <a:spcPts val="5800"/>
              </a:lnSpc>
              <a:defRPr sz="6000" b="1" i="0" cap="all" baseline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en-US" dirty="0"/>
              <a:t>DIVIDER SLIDE</a:t>
            </a:r>
          </a:p>
        </p:txBody>
      </p:sp>
      <p:sp>
        <p:nvSpPr>
          <p:cNvPr id="6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58368" y="3970337"/>
            <a:ext cx="6638544" cy="2212976"/>
          </a:xfrm>
          <a:prstGeom prst="rect">
            <a:avLst/>
          </a:prstGeom>
          <a:ln>
            <a:noFill/>
          </a:ln>
        </p:spPr>
        <p:txBody>
          <a:bodyPr lIns="0">
            <a:noAutofit/>
          </a:bodyPr>
          <a:lstStyle>
            <a:lvl1pPr marL="0" indent="0" algn="l">
              <a:buNone/>
              <a:defRPr sz="2800" b="0" baseline="0">
                <a:solidFill>
                  <a:schemeClr val="bg1"/>
                </a:solidFill>
                <a:latin typeface="Georgia" charset="0"/>
                <a:ea typeface="Georgia" charset="0"/>
                <a:cs typeface="Georgia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Section title</a:t>
            </a:r>
          </a:p>
        </p:txBody>
      </p:sp>
      <p:pic>
        <p:nvPicPr>
          <p:cNvPr id="7" name="Picture 6" descr="University at Buffalo, The State University of New York logo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600" y="321146"/>
            <a:ext cx="4800600" cy="356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75217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2049F-7F34-5D48-8F72-755B85F3E7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1499616"/>
            <a:ext cx="6951472" cy="590931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C46810-DD61-C649-9461-59FA66CD21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6928" y="2185416"/>
            <a:ext cx="6951472" cy="3968249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E420E5-CF10-E744-8836-DA131F3DFEC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fld id="{EB53C135-CEC6-A548-8917-8F7FEB82358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24026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ullet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2049F-7F34-5D48-8F72-755B85F3E7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1499616"/>
            <a:ext cx="6951472" cy="590931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C46810-DD61-C649-9461-59FA66CD21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6928" y="2185416"/>
            <a:ext cx="6951472" cy="3968249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A51F46-BA21-2546-AE85-93B56EC0618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fld id="{EB53C135-CEC6-A548-8917-8F7FEB82358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32199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 and Doubl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052B2E-D090-724F-8681-FBE0CDA2F1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1499616"/>
            <a:ext cx="10515600" cy="59093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559530-982F-0F4F-B296-9DB2F44D80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66928" y="2185416"/>
            <a:ext cx="4500372" cy="394868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0367C6-4AC8-9C47-BDFA-A5613CF90E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410200" y="2185416"/>
            <a:ext cx="4498848" cy="3950208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1A3F1F-FF47-0844-82BA-F475FCD0AAB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fld id="{EB53C135-CEC6-A548-8917-8F7FEB82358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94624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45C5C1-32E2-374C-809B-D54BEC11E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1499616"/>
            <a:ext cx="10515600" cy="590931"/>
          </a:xfrm>
        </p:spPr>
        <p:txBody>
          <a:bodyPr>
            <a:sp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98817A-73B4-F340-8D0E-FB813E55F79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66928" y="2185416"/>
            <a:ext cx="5138928" cy="393192"/>
          </a:xfrm>
        </p:spPr>
        <p:txBody>
          <a:bodyPr anchor="t" anchorCtr="0">
            <a:spAutoFit/>
          </a:bodyPr>
          <a:lstStyle>
            <a:lvl1pPr marL="0" indent="0">
              <a:buNone/>
              <a:defRPr sz="1600" b="1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126641-0094-3D49-865E-3DB9ECAC43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66928" y="2593340"/>
            <a:ext cx="5140515" cy="3535744"/>
          </a:xfrm>
        </p:spPr>
        <p:txBody>
          <a:bodyPr/>
          <a:lstStyle>
            <a:lvl1pPr marL="285750" indent="-285750">
              <a:buClr>
                <a:schemeClr val="tx2"/>
              </a:buClr>
              <a:buSzPct val="120000"/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6E11705-25F9-194A-9D2F-C9FEEA3A5744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2185416"/>
            <a:ext cx="5138928" cy="394980"/>
          </a:xfrm>
        </p:spPr>
        <p:txBody>
          <a:bodyPr anchor="t" anchorCtr="0">
            <a:spAutoFit/>
          </a:bodyPr>
          <a:lstStyle>
            <a:lvl1pPr marL="0" indent="0">
              <a:buNone/>
              <a:defRPr sz="1600" b="1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978716-6004-6344-B5D2-C780B062C9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90800"/>
            <a:ext cx="5138928" cy="3538728"/>
          </a:xfrm>
        </p:spPr>
        <p:txBody>
          <a:bodyPr/>
          <a:lstStyle>
            <a:lvl1pPr marL="285750" indent="-285750">
              <a:buClr>
                <a:schemeClr val="tx2"/>
              </a:buClr>
              <a:buSzPct val="120000"/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CA91F9-8796-3D42-B75E-9C7F7D9B735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fld id="{EB53C135-CEC6-A548-8917-8F7FEB82358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8445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AA2439-3BDA-DB47-AA02-5590274D40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sp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A2EBF7-C6C5-4541-B47E-7FB413A3DF8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fld id="{EB53C135-CEC6-A548-8917-8F7FEB82358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92539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613847-6053-FF4A-A422-D886A866F53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fld id="{EB53C135-CEC6-A548-8917-8F7FEB82358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104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DC6EF38F-8DF7-3941-B22C-502232E4CB0B}"/>
              </a:ext>
            </a:extLst>
          </p:cNvPr>
          <p:cNvSpPr>
            <a:spLocks noGrp="1" noChangeAspect="1"/>
          </p:cNvSpPr>
          <p:nvPr>
            <p:ph type="pic" idx="13"/>
          </p:nvPr>
        </p:nvSpPr>
        <p:spPr>
          <a:xfrm>
            <a:off x="5098566" y="927100"/>
            <a:ext cx="7093434" cy="59309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txBody>
          <a:bodyPr anchor="t">
            <a:normAutofit/>
          </a:bodyPr>
          <a:lstStyle>
            <a:lvl1pPr marL="0" indent="0" algn="ctr">
              <a:buNone/>
              <a:defRPr sz="1600" b="0" i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 dirty="0"/>
          </a:p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82049F-7F34-5D48-8F72-755B85F3E7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1499616"/>
            <a:ext cx="4248912" cy="590931"/>
          </a:xfrm>
        </p:spPr>
        <p:txBody>
          <a:bodyPr/>
          <a:lstStyle/>
          <a:p>
            <a:r>
              <a:rPr lang="en-US" dirty="0"/>
              <a:t>Click to edit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C46810-DD61-C649-9461-59FA66CD21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6928" y="2185416"/>
            <a:ext cx="4248912" cy="3968249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8C17C1-D75E-7F4A-895D-15D9E2D1D382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fld id="{EB53C135-CEC6-A548-8917-8F7FEB82358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6167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Three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2049F-7F34-5D48-8F72-755B85F3E7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1499616"/>
            <a:ext cx="4248912" cy="590931"/>
          </a:xfrm>
        </p:spPr>
        <p:txBody>
          <a:bodyPr/>
          <a:lstStyle/>
          <a:p>
            <a:r>
              <a:rPr lang="en-US" dirty="0"/>
              <a:t>Click to edit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C46810-DD61-C649-9461-59FA66CD21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6928" y="2185416"/>
            <a:ext cx="4248912" cy="3968249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0CAA554F-B37C-9E47-B5E4-82235D4EC6CD}"/>
              </a:ext>
            </a:extLst>
          </p:cNvPr>
          <p:cNvSpPr>
            <a:spLocks noGrp="1" noChangeAspect="1"/>
          </p:cNvSpPr>
          <p:nvPr>
            <p:ph type="pic" idx="13"/>
          </p:nvPr>
        </p:nvSpPr>
        <p:spPr>
          <a:xfrm>
            <a:off x="5114631" y="934720"/>
            <a:ext cx="7077369" cy="3064678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1"/>
            </a:solidFill>
          </a:ln>
        </p:spPr>
        <p:txBody>
          <a:bodyPr anchor="t">
            <a:normAutofit/>
          </a:bodyPr>
          <a:lstStyle>
            <a:lvl1pPr marL="0" indent="0" algn="ctr">
              <a:buNone/>
              <a:defRPr sz="1600" b="0" i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 dirty="0"/>
          </a:p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9F5FDDA2-E7AF-294B-ACDF-BDB5997277BC}"/>
              </a:ext>
            </a:extLst>
          </p:cNvPr>
          <p:cNvSpPr>
            <a:spLocks noGrp="1" noChangeAspect="1"/>
          </p:cNvSpPr>
          <p:nvPr>
            <p:ph type="pic" idx="14"/>
          </p:nvPr>
        </p:nvSpPr>
        <p:spPr>
          <a:xfrm>
            <a:off x="5114631" y="3998296"/>
            <a:ext cx="3602522" cy="28575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1"/>
            </a:solidFill>
          </a:ln>
        </p:spPr>
        <p:txBody>
          <a:bodyPr anchor="t">
            <a:normAutofit/>
          </a:bodyPr>
          <a:lstStyle>
            <a:lvl1pPr marL="0" indent="0" algn="ctr">
              <a:buNone/>
              <a:defRPr sz="1600" b="0" i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 dirty="0"/>
          </a:p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F2499D1A-BF4E-8444-BF94-86863CA11648}"/>
              </a:ext>
            </a:extLst>
          </p:cNvPr>
          <p:cNvSpPr>
            <a:spLocks noGrp="1" noChangeAspect="1"/>
          </p:cNvSpPr>
          <p:nvPr>
            <p:ph type="pic" idx="15"/>
          </p:nvPr>
        </p:nvSpPr>
        <p:spPr>
          <a:xfrm>
            <a:off x="8701089" y="3998296"/>
            <a:ext cx="3490912" cy="28575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1"/>
            </a:solidFill>
          </a:ln>
        </p:spPr>
        <p:txBody>
          <a:bodyPr anchor="t">
            <a:normAutofit/>
          </a:bodyPr>
          <a:lstStyle>
            <a:lvl1pPr marL="0" indent="0" algn="ctr">
              <a:buNone/>
              <a:defRPr sz="1600" b="0" i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 dirty="0"/>
          </a:p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2F90DAFF-101D-E948-A7EE-D57686CEB2D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fld id="{EB53C135-CEC6-A548-8917-8F7FEB82358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08519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Wid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947F2-B572-1341-97A2-03F799FC1C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B21EA68-2B0A-7648-9710-0081FFDD7D68}"/>
              </a:ext>
            </a:extLst>
          </p:cNvPr>
          <p:cNvSpPr>
            <a:spLocks noGrp="1" noChangeAspect="1"/>
          </p:cNvSpPr>
          <p:nvPr>
            <p:ph type="pic" idx="13"/>
          </p:nvPr>
        </p:nvSpPr>
        <p:spPr>
          <a:xfrm>
            <a:off x="0" y="927100"/>
            <a:ext cx="12192000" cy="59309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txBody>
          <a:bodyPr anchor="t">
            <a:normAutofit/>
          </a:bodyPr>
          <a:lstStyle>
            <a:lvl1pPr marL="0" indent="0" algn="ctr">
              <a:buNone/>
              <a:defRPr sz="1600" b="0" i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 dirty="0"/>
          </a:p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1C2F5B-0BEC-1B48-AF19-F70CBF88DDD2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fld id="{EB53C135-CEC6-A548-8917-8F7FEB82358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04589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2049F-7F34-5D48-8F72-755B85F3E7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1499616"/>
            <a:ext cx="4248912" cy="590931"/>
          </a:xfrm>
        </p:spPr>
        <p:txBody>
          <a:bodyPr/>
          <a:lstStyle/>
          <a:p>
            <a:r>
              <a:rPr lang="en-US" dirty="0"/>
              <a:t>Click to edit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C46810-DD61-C649-9461-59FA66CD21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6928" y="2185416"/>
            <a:ext cx="4248912" cy="3968249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hart Placeholder 2">
            <a:extLst>
              <a:ext uri="{FF2B5EF4-FFF2-40B4-BE49-F238E27FC236}">
                <a16:creationId xmlns:a16="http://schemas.microsoft.com/office/drawing/2014/main" id="{7B782143-2792-E14B-AE51-0FFA9028EB8A}"/>
              </a:ext>
            </a:extLst>
          </p:cNvPr>
          <p:cNvSpPr>
            <a:spLocks noGrp="1"/>
          </p:cNvSpPr>
          <p:nvPr>
            <p:ph type="chart" sz="quarter" idx="16"/>
          </p:nvPr>
        </p:nvSpPr>
        <p:spPr>
          <a:xfrm>
            <a:off x="5161935" y="1976285"/>
            <a:ext cx="6325152" cy="3967316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none"/>
        </p:style>
        <p:txBody>
          <a:bodyPr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aseline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endParaRPr lang="en-US" dirty="0"/>
          </a:p>
          <a:p>
            <a:r>
              <a:rPr lang="en-US" dirty="0"/>
              <a:t>Drag chart to placeholder or click icon to add chart</a:t>
            </a:r>
          </a:p>
          <a:p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EFBFC18-7AE9-1C44-9039-61F804A6140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fld id="{EB53C135-CEC6-A548-8917-8F7FEB82358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24946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21614BA-85C5-BA49-A402-F7BCCCDB2C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1499616"/>
            <a:ext cx="10515600" cy="590931"/>
          </a:xfrm>
          <a:prstGeom prst="rect">
            <a:avLst/>
          </a:prstGeom>
        </p:spPr>
        <p:txBody>
          <a:bodyPr vert="horz" lIns="91440" tIns="45720" rIns="91440" bIns="45720" rtlCol="0" anchor="b" anchorCtr="0">
            <a:sp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A66ADF-AEA5-DC4B-841D-168372B891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6928" y="2185416"/>
            <a:ext cx="10515600" cy="396824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9" name="Picture 8" descr="University at Buffalo, The State University of New York logo">
            <a:extLst>
              <a:ext uri="{FF2B5EF4-FFF2-40B4-BE49-F238E27FC236}">
                <a16:creationId xmlns:a16="http://schemas.microsoft.com/office/drawing/2014/main" id="{27B0F206-4721-B742-B71F-C0AADA23A984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600" y="321146"/>
            <a:ext cx="4800600" cy="356029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D4790E-48FE-324B-A4AD-34E3A7792E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574280" y="631977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tx1"/>
                </a:solidFill>
              </a:defRPr>
            </a:lvl1pPr>
          </a:lstStyle>
          <a:p>
            <a:fld id="{EB53C135-CEC6-A548-8917-8F7FEB82358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79714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50" r:id="rId3"/>
    <p:sldLayoutId id="2147483664" r:id="rId4"/>
    <p:sldLayoutId id="2147483652" r:id="rId5"/>
    <p:sldLayoutId id="2147483653" r:id="rId6"/>
    <p:sldLayoutId id="2147483654" r:id="rId7"/>
    <p:sldLayoutId id="2147483655" r:id="rId8"/>
    <p:sldLayoutId id="2147483665" r:id="rId9"/>
    <p:sldLayoutId id="2147483666" r:id="rId10"/>
    <p:sldLayoutId id="2147483660" r:id="rId11"/>
    <p:sldLayoutId id="2147483667" r:id="rId1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0" i="0" kern="1200">
          <a:solidFill>
            <a:schemeClr val="tx2"/>
          </a:solidFill>
          <a:latin typeface="Georgia" panose="02040502050405020303" pitchFamily="18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600"/>
        </a:spcBef>
        <a:buClr>
          <a:schemeClr val="tx2"/>
        </a:buClr>
        <a:buSzPct val="120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130000"/>
        </a:lnSpc>
        <a:spcBef>
          <a:spcPts val="600"/>
        </a:spcBef>
        <a:buClr>
          <a:schemeClr val="tx2"/>
        </a:buClr>
        <a:buSzPct val="120000"/>
        <a:buFont typeface="System Font Regular"/>
        <a:buChar char="-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130000"/>
        </a:lnSpc>
        <a:spcBef>
          <a:spcPts val="600"/>
        </a:spcBef>
        <a:buClr>
          <a:schemeClr val="tx2"/>
        </a:buClr>
        <a:buSzPct val="120000"/>
        <a:buFont typeface="System Font Regular"/>
        <a:buChar char="-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130000"/>
        </a:lnSpc>
        <a:spcBef>
          <a:spcPts val="600"/>
        </a:spcBef>
        <a:buClr>
          <a:schemeClr val="tx2"/>
        </a:buClr>
        <a:buSzPct val="120000"/>
        <a:buFont typeface="System Font Regular"/>
        <a:buChar char="-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130000"/>
        </a:lnSpc>
        <a:spcBef>
          <a:spcPts val="600"/>
        </a:spcBef>
        <a:buClr>
          <a:schemeClr val="tx2"/>
        </a:buClr>
        <a:buSzPct val="120000"/>
        <a:buFont typeface="System Font Regular"/>
        <a:buChar char="-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resentation Title">
            <a:extLst>
              <a:ext uri="{FF2B5EF4-FFF2-40B4-BE49-F238E27FC236}">
                <a16:creationId xmlns:a16="http://schemas.microsoft.com/office/drawing/2014/main" id="{1089AC9A-5D7D-5A4C-8605-7607252D4F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3903" y="2683764"/>
            <a:ext cx="6794484" cy="2386584"/>
          </a:xfrm>
        </p:spPr>
        <p:txBody>
          <a:bodyPr/>
          <a:lstStyle/>
          <a:p>
            <a:r>
              <a:rPr lang="en-US" dirty="0"/>
              <a:t>Smart financial services kiosk with ai advisory system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47CE931-39E1-850E-41A2-9B323EFA2783}"/>
              </a:ext>
            </a:extLst>
          </p:cNvPr>
          <p:cNvSpPr/>
          <p:nvPr/>
        </p:nvSpPr>
        <p:spPr>
          <a:xfrm>
            <a:off x="6925519" y="1015678"/>
            <a:ext cx="5266481" cy="5842322"/>
          </a:xfrm>
          <a:prstGeom prst="rect">
            <a:avLst/>
          </a:prstGeom>
          <a:solidFill>
            <a:schemeClr val="accent1"/>
          </a:solidFill>
          <a:effectLst>
            <a:softEdge rad="317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026" name="Picture 2" descr="Knowledge Institute of Technology – Salem Tamilnadu">
            <a:extLst>
              <a:ext uri="{FF2B5EF4-FFF2-40B4-BE49-F238E27FC236}">
                <a16:creationId xmlns:a16="http://schemas.microsoft.com/office/drawing/2014/main" id="{738880D4-E34B-E552-59E7-F03949CCE8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8780" y="1590390"/>
            <a:ext cx="3479958" cy="34799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3F1A4ABE-3FDA-6EFC-91AC-72D2BF3BD196}"/>
              </a:ext>
            </a:extLst>
          </p:cNvPr>
          <p:cNvSpPr/>
          <p:nvPr/>
        </p:nvSpPr>
        <p:spPr>
          <a:xfrm>
            <a:off x="0" y="5924991"/>
            <a:ext cx="12192000" cy="93300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b="1" dirty="0">
                <a:solidFill>
                  <a:schemeClr val="bg1"/>
                </a:solidFill>
              </a:rPr>
              <a:t> KNOWLEDGE INSTITUTE OF TECHNOLOGY</a:t>
            </a:r>
          </a:p>
        </p:txBody>
      </p:sp>
    </p:spTree>
    <p:extLst>
      <p:ext uri="{BB962C8B-B14F-4D97-AF65-F5344CB8AC3E}">
        <p14:creationId xmlns:p14="http://schemas.microsoft.com/office/powerpoint/2010/main" val="4078184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>
            <a:extLst>
              <a:ext uri="{FF2B5EF4-FFF2-40B4-BE49-F238E27FC236}">
                <a16:creationId xmlns:a16="http://schemas.microsoft.com/office/drawing/2014/main" id="{6EFFE0B3-6566-3F48-9291-A6A8E30E2D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1182960"/>
            <a:ext cx="10440596" cy="535531"/>
          </a:xfrm>
        </p:spPr>
        <p:txBody>
          <a:bodyPr/>
          <a:lstStyle/>
          <a:p>
            <a:r>
              <a:rPr lang="en-US" sz="3200" dirty="0"/>
              <a:t>Smart financial services kiosk with ai advisory system</a:t>
            </a:r>
          </a:p>
        </p:txBody>
      </p:sp>
      <p:sp>
        <p:nvSpPr>
          <p:cNvPr id="16" name="Slide Number">
            <a:extLst>
              <a:ext uri="{FF2B5EF4-FFF2-40B4-BE49-F238E27FC236}">
                <a16:creationId xmlns:a16="http://schemas.microsoft.com/office/drawing/2014/main" id="{4603F0F3-CF76-774D-86D8-DB88B36252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fld id="{2E1B3BED-EDDA-2E42-813F-F157009AF3C2}" type="slidenum">
              <a:rPr lang="en-US" smtClean="0"/>
              <a:t>2</a:t>
            </a:fld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4D6A913C-1F80-C2E7-2C11-FAC7D7E5E2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6928" y="1817838"/>
            <a:ext cx="10799411" cy="3968249"/>
          </a:xfrm>
        </p:spPr>
        <p:txBody>
          <a:bodyPr/>
          <a:lstStyle/>
          <a:p>
            <a:pPr algn="just"/>
            <a:r>
              <a:rPr lang="en-IN" sz="2400" b="1" dirty="0"/>
              <a:t>Objective: </a:t>
            </a:r>
            <a:r>
              <a:rPr lang="en-IN" sz="2400" dirty="0"/>
              <a:t>Develop a smart kiosk that integrates essential financial services into a single platform. Provide AI-powered financial assistance with secure KYC and fraud detection.</a:t>
            </a:r>
          </a:p>
          <a:p>
            <a:pPr algn="just"/>
            <a:r>
              <a:rPr lang="en-IN" sz="2400" b="1" dirty="0"/>
              <a:t>Solution: </a:t>
            </a:r>
            <a:r>
              <a:rPr lang="en-IN" sz="2400" dirty="0"/>
              <a:t>Raspberry Pi–based Flask web application with an AI Financial Advisor. Integrated KYC, fraud detection.</a:t>
            </a:r>
          </a:p>
          <a:p>
            <a:pPr algn="just"/>
            <a:r>
              <a:rPr lang="en-IN" sz="2400" b="1" dirty="0"/>
              <a:t>Impact: </a:t>
            </a:r>
            <a:r>
              <a:rPr lang="en-IN" sz="2400" dirty="0"/>
              <a:t>Simplifies digital financial services through a secure self-service kiosk. Enhances accessibility, efficiency, and user experience in financial assistance.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C0A6794-0D44-2C2B-8DDD-F20A931F4B30}"/>
              </a:ext>
            </a:extLst>
          </p:cNvPr>
          <p:cNvSpPr/>
          <p:nvPr/>
        </p:nvSpPr>
        <p:spPr>
          <a:xfrm>
            <a:off x="0" y="12699"/>
            <a:ext cx="12192000" cy="93300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b="1" dirty="0">
                <a:solidFill>
                  <a:schemeClr val="bg1"/>
                </a:solidFill>
              </a:rPr>
              <a:t> KNOWLEDGE INSTITUTE OF TECHNOLOGY</a:t>
            </a:r>
          </a:p>
        </p:txBody>
      </p:sp>
      <p:pic>
        <p:nvPicPr>
          <p:cNvPr id="11" name="Picture 2" descr="Knowledge Institute of Technology – Salem Tamilnadu">
            <a:extLst>
              <a:ext uri="{FF2B5EF4-FFF2-40B4-BE49-F238E27FC236}">
                <a16:creationId xmlns:a16="http://schemas.microsoft.com/office/drawing/2014/main" id="{109FAC87-EA26-5E89-32E8-FD96E222C8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1663" y="28295"/>
            <a:ext cx="892617" cy="8926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168065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>
            <a:extLst>
              <a:ext uri="{FF2B5EF4-FFF2-40B4-BE49-F238E27FC236}">
                <a16:creationId xmlns:a16="http://schemas.microsoft.com/office/drawing/2014/main" id="{93BEC0A6-A5CE-914E-9A9E-BB0E401370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907" y="1111553"/>
            <a:ext cx="10515600" cy="590931"/>
          </a:xfrm>
        </p:spPr>
        <p:txBody>
          <a:bodyPr/>
          <a:lstStyle/>
          <a:p>
            <a:r>
              <a:rPr lang="en-US" dirty="0"/>
              <a:t>Engineering Design Process</a:t>
            </a:r>
          </a:p>
        </p:txBody>
      </p:sp>
      <p:sp>
        <p:nvSpPr>
          <p:cNvPr id="3" name="Side Text - Column 1">
            <a:extLst>
              <a:ext uri="{FF2B5EF4-FFF2-40B4-BE49-F238E27FC236}">
                <a16:creationId xmlns:a16="http://schemas.microsoft.com/office/drawing/2014/main" id="{38025F87-E395-E545-BB3A-BF62703CCB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31691" y="1721456"/>
            <a:ext cx="11528617" cy="4134358"/>
          </a:xfrm>
        </p:spPr>
        <p:txBody>
          <a:bodyPr/>
          <a:lstStyle/>
          <a:p>
            <a:pPr algn="just"/>
            <a:r>
              <a:rPr lang="en-IN" sz="2000" b="1" dirty="0"/>
              <a:t>Requirement &amp; Planning:</a:t>
            </a:r>
            <a:r>
              <a:rPr lang="en-IN" sz="2000" dirty="0"/>
              <a:t> Defined project objectives, system modules, and Raspberry Pi–based kiosk architecture. </a:t>
            </a:r>
          </a:p>
          <a:p>
            <a:pPr algn="just"/>
            <a:r>
              <a:rPr lang="en-IN" sz="2000" b="1" dirty="0"/>
              <a:t>UI &amp; Backend Development:</a:t>
            </a:r>
            <a:r>
              <a:rPr lang="en-IN" sz="2000" dirty="0"/>
              <a:t> Designed the Flask web application and developed the AI, KYC, fraud detection, and user history modules. </a:t>
            </a:r>
          </a:p>
          <a:p>
            <a:pPr algn="just"/>
            <a:r>
              <a:rPr lang="en-IN" sz="2000" b="1" dirty="0"/>
              <a:t>System Integration:</a:t>
            </a:r>
            <a:r>
              <a:rPr lang="en-IN" sz="2000" dirty="0"/>
              <a:t> Integrated Raspberry Pi, web interface, </a:t>
            </a:r>
            <a:r>
              <a:rPr lang="en-IN" sz="2000" dirty="0" err="1"/>
              <a:t>Groq</a:t>
            </a:r>
            <a:r>
              <a:rPr lang="en-IN" sz="2000" dirty="0"/>
              <a:t> API, and database into a unified kiosk platform. </a:t>
            </a:r>
          </a:p>
          <a:p>
            <a:pPr algn="just"/>
            <a:r>
              <a:rPr lang="en-IN" sz="2000" b="1" dirty="0"/>
              <a:t>Testing &amp; Validation:</a:t>
            </a:r>
            <a:r>
              <a:rPr lang="en-IN" sz="2000" dirty="0"/>
              <a:t> Verified module functionality, user interactions, and overall system performance through prototype testing. </a:t>
            </a:r>
          </a:p>
          <a:p>
            <a:pPr algn="just"/>
            <a:r>
              <a:rPr lang="en-IN" sz="2000" b="1" dirty="0"/>
              <a:t>Documentation:</a:t>
            </a:r>
            <a:r>
              <a:rPr lang="en-IN" sz="2000" dirty="0"/>
              <a:t> Prepared technical documentation, project report, and user interface records. </a:t>
            </a:r>
          </a:p>
        </p:txBody>
      </p:sp>
      <p:sp>
        <p:nvSpPr>
          <p:cNvPr id="15" name="Slide Number">
            <a:extLst>
              <a:ext uri="{FF2B5EF4-FFF2-40B4-BE49-F238E27FC236}">
                <a16:creationId xmlns:a16="http://schemas.microsoft.com/office/drawing/2014/main" id="{A6790C53-F8BB-DF4A-8361-919F8B7F69D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fld id="{7FF4D5E0-956F-9742-9135-6CCBA6AE77D9}" type="slidenum">
              <a:rPr lang="en-US" smtClean="0"/>
              <a:t>3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92C6FD2-673C-D83E-C716-1C989A6761E8}"/>
              </a:ext>
            </a:extLst>
          </p:cNvPr>
          <p:cNvSpPr/>
          <p:nvPr/>
        </p:nvSpPr>
        <p:spPr>
          <a:xfrm>
            <a:off x="0" y="12699"/>
            <a:ext cx="12192000" cy="93300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b="1" dirty="0">
                <a:solidFill>
                  <a:schemeClr val="bg1"/>
                </a:solidFill>
              </a:rPr>
              <a:t> KNOWLEDGE INSTITUTE OF TECHNOLOGY</a:t>
            </a:r>
          </a:p>
        </p:txBody>
      </p:sp>
      <p:pic>
        <p:nvPicPr>
          <p:cNvPr id="6" name="Picture 2" descr="Knowledge Institute of Technology – Salem Tamilnadu">
            <a:extLst>
              <a:ext uri="{FF2B5EF4-FFF2-40B4-BE49-F238E27FC236}">
                <a16:creationId xmlns:a16="http://schemas.microsoft.com/office/drawing/2014/main" id="{15E68AEA-E1B7-F441-CC54-52CAA052A8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1663" y="28295"/>
            <a:ext cx="892617" cy="8926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739664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>
            <a:extLst>
              <a:ext uri="{FF2B5EF4-FFF2-40B4-BE49-F238E27FC236}">
                <a16:creationId xmlns:a16="http://schemas.microsoft.com/office/drawing/2014/main" id="{88DBE833-A922-5747-A36B-4314D31168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1204150"/>
            <a:ext cx="6951472" cy="590931"/>
          </a:xfrm>
        </p:spPr>
        <p:txBody>
          <a:bodyPr/>
          <a:lstStyle/>
          <a:p>
            <a:r>
              <a:rPr lang="en-US" dirty="0"/>
              <a:t>Process Table</a:t>
            </a:r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1E758566-FAE7-1B41-AABE-FDB3CDFB0BC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fld id="{FF97EF4A-40C6-024D-A945-B03D1BBD02F7}" type="slidenum">
              <a:rPr lang="en-US" smtClean="0"/>
              <a:t>4</a:t>
            </a:fld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EAA5F49-DDB8-A757-9699-BF1EF25BB02F}"/>
              </a:ext>
            </a:extLst>
          </p:cNvPr>
          <p:cNvSpPr/>
          <p:nvPr/>
        </p:nvSpPr>
        <p:spPr>
          <a:xfrm>
            <a:off x="0" y="12699"/>
            <a:ext cx="12192000" cy="93300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b="1" dirty="0">
                <a:solidFill>
                  <a:schemeClr val="bg1"/>
                </a:solidFill>
              </a:rPr>
              <a:t> KNOWLEDGE INSTITUTE OF TECHNOLOGY</a:t>
            </a:r>
          </a:p>
        </p:txBody>
      </p:sp>
      <p:pic>
        <p:nvPicPr>
          <p:cNvPr id="7" name="Picture 2" descr="Knowledge Institute of Technology – Salem Tamilnadu">
            <a:extLst>
              <a:ext uri="{FF2B5EF4-FFF2-40B4-BE49-F238E27FC236}">
                <a16:creationId xmlns:a16="http://schemas.microsoft.com/office/drawing/2014/main" id="{A354C783-D22D-33EA-3878-74D4D22945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1663" y="28295"/>
            <a:ext cx="892617" cy="8926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EDDB6BDD-B31C-396B-AD95-8825FC7998B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1728615"/>
              </p:ext>
            </p:extLst>
          </p:nvPr>
        </p:nvGraphicFramePr>
        <p:xfrm>
          <a:off x="534924" y="2012816"/>
          <a:ext cx="11122152" cy="430695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013966">
                  <a:extLst>
                    <a:ext uri="{9D8B030D-6E8A-4147-A177-3AD203B41FA5}">
                      <a16:colId xmlns:a16="http://schemas.microsoft.com/office/drawing/2014/main" val="2621167055"/>
                    </a:ext>
                  </a:extLst>
                </a:gridCol>
                <a:gridCol w="3143250">
                  <a:extLst>
                    <a:ext uri="{9D8B030D-6E8A-4147-A177-3AD203B41FA5}">
                      <a16:colId xmlns:a16="http://schemas.microsoft.com/office/drawing/2014/main" val="2429629913"/>
                    </a:ext>
                  </a:extLst>
                </a:gridCol>
                <a:gridCol w="5964936">
                  <a:extLst>
                    <a:ext uri="{9D8B030D-6E8A-4147-A177-3AD203B41FA5}">
                      <a16:colId xmlns:a16="http://schemas.microsoft.com/office/drawing/2014/main" val="436471904"/>
                    </a:ext>
                  </a:extLst>
                </a:gridCol>
              </a:tblGrid>
              <a:tr h="3741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/>
                        <a:t>Phase</a:t>
                      </a:r>
                      <a:endParaRPr lang="en-IN" sz="2000" dirty="0"/>
                    </a:p>
                  </a:txBody>
                  <a:tcPr marL="60449" marR="60449" marT="30225" marB="302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/>
                        <a:t>Engineering Steps</a:t>
                      </a:r>
                      <a:endParaRPr lang="en-IN" sz="2000"/>
                    </a:p>
                  </a:txBody>
                  <a:tcPr marL="60449" marR="60449" marT="30225" marB="302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/>
                        <a:t>Key Activities &amp; Outcome</a:t>
                      </a:r>
                      <a:endParaRPr lang="en-IN" sz="2000"/>
                    </a:p>
                  </a:txBody>
                  <a:tcPr marL="60449" marR="60449" marT="30225" marB="30225" anchor="ctr"/>
                </a:tc>
                <a:extLst>
                  <a:ext uri="{0D108BD9-81ED-4DB2-BD59-A6C34878D82A}">
                    <a16:rowId xmlns:a16="http://schemas.microsoft.com/office/drawing/2014/main" val="451933588"/>
                  </a:ext>
                </a:extLst>
              </a:tr>
              <a:tr h="13109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/>
                        <a:t>I. Definition</a:t>
                      </a:r>
                      <a:endParaRPr lang="en-IN" sz="2000" dirty="0"/>
                    </a:p>
                  </a:txBody>
                  <a:tcPr marL="60449" marR="60449" marT="30225" marB="302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Requirement Analysis, Concept Design</a:t>
                      </a:r>
                    </a:p>
                  </a:txBody>
                  <a:tcPr marL="60449" marR="60449" marT="30225" marB="302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/>
                        <a:t>Defined:</a:t>
                      </a:r>
                      <a:r>
                        <a:rPr lang="en-IN" sz="2000" dirty="0"/>
                        <a:t> AI-enabled financial kiosk with KYC, Fraud Detection.</a:t>
                      </a:r>
                    </a:p>
                    <a:p>
                      <a:pPr>
                        <a:buNone/>
                      </a:pPr>
                      <a:r>
                        <a:rPr lang="en-IN" sz="2000" b="1" dirty="0"/>
                        <a:t>Concept:</a:t>
                      </a:r>
                      <a:r>
                        <a:rPr lang="en-IN" sz="2000" dirty="0"/>
                        <a:t> Raspberry Pi–based Flask web application with </a:t>
                      </a:r>
                      <a:r>
                        <a:rPr lang="en-IN" sz="2000" dirty="0" err="1"/>
                        <a:t>Groq</a:t>
                      </a:r>
                      <a:r>
                        <a:rPr lang="en-IN" sz="2000" dirty="0"/>
                        <a:t> AI integration.</a:t>
                      </a:r>
                    </a:p>
                  </a:txBody>
                  <a:tcPr marL="60449" marR="60449" marT="30225" marB="30225" anchor="ctr"/>
                </a:tc>
                <a:extLst>
                  <a:ext uri="{0D108BD9-81ED-4DB2-BD59-A6C34878D82A}">
                    <a16:rowId xmlns:a16="http://schemas.microsoft.com/office/drawing/2014/main" val="770675275"/>
                  </a:ext>
                </a:extLst>
              </a:tr>
              <a:tr h="13109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/>
                        <a:t>II. Development</a:t>
                      </a:r>
                      <a:endParaRPr lang="en-IN" sz="2000"/>
                    </a:p>
                  </a:txBody>
                  <a:tcPr marL="60449" marR="60449" marT="30225" marB="302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System Design, Module Development, Integration</a:t>
                      </a:r>
                    </a:p>
                  </a:txBody>
                  <a:tcPr marL="60449" marR="60449" marT="30225" marB="302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/>
                        <a:t>Developed:</a:t>
                      </a:r>
                      <a:r>
                        <a:rPr lang="en-IN" sz="2000" dirty="0"/>
                        <a:t> Login, Dashboard, AI Advisor, KYC Upload, Fraud Detection.</a:t>
                      </a:r>
                    </a:p>
                    <a:p>
                      <a:pPr>
                        <a:buNone/>
                      </a:pPr>
                      <a:r>
                        <a:rPr lang="en-IN" sz="2000" b="1" dirty="0"/>
                        <a:t>Integrated:</a:t>
                      </a:r>
                      <a:r>
                        <a:rPr lang="en-IN" sz="2000" dirty="0"/>
                        <a:t> Flask backend, </a:t>
                      </a:r>
                      <a:r>
                        <a:rPr lang="en-IN" sz="2000" dirty="0" err="1"/>
                        <a:t>Groq</a:t>
                      </a:r>
                      <a:r>
                        <a:rPr lang="en-IN" sz="2000" dirty="0"/>
                        <a:t> API, Raspberry Pi and database.</a:t>
                      </a:r>
                    </a:p>
                  </a:txBody>
                  <a:tcPr marL="60449" marR="60449" marT="30225" marB="30225" anchor="ctr"/>
                </a:tc>
                <a:extLst>
                  <a:ext uri="{0D108BD9-81ED-4DB2-BD59-A6C34878D82A}">
                    <a16:rowId xmlns:a16="http://schemas.microsoft.com/office/drawing/2014/main" val="1466009640"/>
                  </a:ext>
                </a:extLst>
              </a:tr>
              <a:tr h="13109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/>
                        <a:t>III. Realization</a:t>
                      </a:r>
                      <a:endParaRPr lang="en-IN" sz="2000"/>
                    </a:p>
                  </a:txBody>
                  <a:tcPr marL="60449" marR="60449" marT="30225" marB="302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Prototype, Testing, Validation</a:t>
                      </a:r>
                    </a:p>
                  </a:txBody>
                  <a:tcPr marL="60449" marR="60449" marT="30225" marB="302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/>
                        <a:t>Built:</a:t>
                      </a:r>
                      <a:r>
                        <a:rPr lang="en-IN" sz="2000" dirty="0"/>
                        <a:t> Functional kiosk prototype using Raspberry Pi and tablet interface.</a:t>
                      </a:r>
                    </a:p>
                    <a:p>
                      <a:pPr>
                        <a:buNone/>
                      </a:pPr>
                      <a:r>
                        <a:rPr lang="en-IN" sz="2000" b="1" dirty="0"/>
                        <a:t>Validated:</a:t>
                      </a:r>
                      <a:r>
                        <a:rPr lang="en-IN" sz="2000" dirty="0"/>
                        <a:t> AI responses, document upload, fraud detection and complete system workflow.</a:t>
                      </a:r>
                    </a:p>
                  </a:txBody>
                  <a:tcPr marL="60449" marR="60449" marT="30225" marB="30225" anchor="ctr"/>
                </a:tc>
                <a:extLst>
                  <a:ext uri="{0D108BD9-81ED-4DB2-BD59-A6C34878D82A}">
                    <a16:rowId xmlns:a16="http://schemas.microsoft.com/office/drawing/2014/main" val="27604367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976775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Title">
            <a:extLst>
              <a:ext uri="{FF2B5EF4-FFF2-40B4-BE49-F238E27FC236}">
                <a16:creationId xmlns:a16="http://schemas.microsoft.com/office/drawing/2014/main" id="{A5A6BD9C-352C-594C-84C3-B534C6BE81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1145721"/>
            <a:ext cx="10515600" cy="590931"/>
          </a:xfrm>
        </p:spPr>
        <p:txBody>
          <a:bodyPr/>
          <a:lstStyle/>
          <a:p>
            <a:r>
              <a:rPr lang="en-US" dirty="0"/>
              <a:t>List of Activities</a:t>
            </a:r>
          </a:p>
        </p:txBody>
      </p:sp>
      <p:sp>
        <p:nvSpPr>
          <p:cNvPr id="23" name="Slide Number">
            <a:extLst>
              <a:ext uri="{FF2B5EF4-FFF2-40B4-BE49-F238E27FC236}">
                <a16:creationId xmlns:a16="http://schemas.microsoft.com/office/drawing/2014/main" id="{692346D0-C19D-754C-B7FB-4EEAD59AF4E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574280" y="6137211"/>
            <a:ext cx="4114800" cy="365125"/>
          </a:xfrm>
        </p:spPr>
        <p:txBody>
          <a:bodyPr/>
          <a:lstStyle/>
          <a:p>
            <a:fld id="{11612D8C-0CE2-8F48-B865-A1C7EEB20945}" type="slidenum">
              <a:rPr lang="en-US" smtClean="0"/>
              <a:t>5</a:t>
            </a:fld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C1D069B-0F58-C58D-35EC-4C6DB3F00376}"/>
              </a:ext>
            </a:extLst>
          </p:cNvPr>
          <p:cNvSpPr/>
          <p:nvPr/>
        </p:nvSpPr>
        <p:spPr>
          <a:xfrm>
            <a:off x="0" y="12699"/>
            <a:ext cx="12192000" cy="93300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b="1" dirty="0">
                <a:solidFill>
                  <a:schemeClr val="bg1"/>
                </a:solidFill>
              </a:rPr>
              <a:t> KNOWLEDGE INSTITUTE OF TECHNOLOGY</a:t>
            </a:r>
          </a:p>
        </p:txBody>
      </p:sp>
      <p:pic>
        <p:nvPicPr>
          <p:cNvPr id="3" name="Picture 2" descr="Knowledge Institute of Technology – Salem Tamilnadu">
            <a:extLst>
              <a:ext uri="{FF2B5EF4-FFF2-40B4-BE49-F238E27FC236}">
                <a16:creationId xmlns:a16="http://schemas.microsoft.com/office/drawing/2014/main" id="{CE1C2C29-CE5B-056E-24FC-D9D195ED3E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1663" y="28295"/>
            <a:ext cx="892617" cy="8926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1D36BFF-0743-C505-AFF7-9313472477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9768" y="1710423"/>
            <a:ext cx="11640312" cy="4336047"/>
          </a:xfrm>
        </p:spPr>
        <p:txBody>
          <a:bodyPr/>
          <a:lstStyle/>
          <a:p>
            <a:pPr algn="just"/>
            <a:r>
              <a:rPr lang="en-IN" sz="2000" b="1" dirty="0"/>
              <a:t>A. Literature Survey:</a:t>
            </a:r>
            <a:r>
              <a:rPr lang="en-IN" sz="2000" dirty="0"/>
              <a:t> Studied AI-based financial kiosks, digital banking, and fraud </a:t>
            </a:r>
          </a:p>
          <a:p>
            <a:pPr marL="0" indent="0" algn="just">
              <a:buNone/>
            </a:pPr>
            <a:r>
              <a:rPr lang="en-IN" sz="2000" dirty="0"/>
              <a:t>     detection systems.</a:t>
            </a:r>
          </a:p>
          <a:p>
            <a:pPr algn="just"/>
            <a:r>
              <a:rPr lang="en-IN" sz="2000" b="1" dirty="0"/>
              <a:t>B. Requirement Analysis:</a:t>
            </a:r>
            <a:r>
              <a:rPr lang="en-IN" sz="2000" dirty="0"/>
              <a:t> Identified system modules, user requirements, and kiosk architecture.</a:t>
            </a:r>
          </a:p>
          <a:p>
            <a:pPr algn="just"/>
            <a:r>
              <a:rPr lang="en-IN" sz="2000" b="1" dirty="0"/>
              <a:t>C. UI &amp; Backend Design:</a:t>
            </a:r>
            <a:r>
              <a:rPr lang="en-IN" sz="2000" dirty="0"/>
              <a:t> Developed the Flask web application with user-friendly interfaces.</a:t>
            </a:r>
          </a:p>
          <a:p>
            <a:pPr algn="just"/>
            <a:r>
              <a:rPr lang="en-IN" sz="2000" b="1" dirty="0"/>
              <a:t>D. AI Integration:</a:t>
            </a:r>
            <a:r>
              <a:rPr lang="en-IN" sz="2000" dirty="0"/>
              <a:t> Integrated the </a:t>
            </a:r>
            <a:r>
              <a:rPr lang="en-IN" sz="2000" dirty="0" err="1"/>
              <a:t>Groq</a:t>
            </a:r>
            <a:r>
              <a:rPr lang="en-IN" sz="2000" dirty="0"/>
              <a:t> API to provide real-time financial guidance.</a:t>
            </a:r>
          </a:p>
          <a:p>
            <a:r>
              <a:rPr lang="en-IN" sz="2000" b="1" dirty="0"/>
              <a:t>E.KYC Module Development:</a:t>
            </a:r>
            <a:r>
              <a:rPr lang="en-IN" sz="2000" dirty="0"/>
              <a:t> Implemented secure document upload and digital KYC management.</a:t>
            </a:r>
          </a:p>
          <a:p>
            <a:pPr algn="just"/>
            <a:r>
              <a:rPr lang="en-IN" sz="2000" b="1" dirty="0"/>
              <a:t>F. Fraud Detection Module:</a:t>
            </a:r>
            <a:r>
              <a:rPr lang="en-IN" sz="2000" dirty="0"/>
              <a:t> Developed a module to evaluate user data and assess fraud risk.</a:t>
            </a:r>
          </a:p>
          <a:p>
            <a:pPr algn="just"/>
            <a:r>
              <a:rPr lang="en-IN" sz="2000" b="1" dirty="0"/>
              <a:t>G. System Integration:</a:t>
            </a:r>
            <a:r>
              <a:rPr lang="en-IN" sz="2000" dirty="0"/>
              <a:t> Integrated Raspberry Pi, web application, database, and all </a:t>
            </a:r>
          </a:p>
          <a:p>
            <a:pPr algn="just"/>
            <a:r>
              <a:rPr lang="en-IN" sz="2000" dirty="0"/>
              <a:t>functional modules.</a:t>
            </a:r>
          </a:p>
          <a:p>
            <a:pPr algn="just"/>
            <a:r>
              <a:rPr lang="en-IN" sz="2000" b="1" dirty="0"/>
              <a:t>H. Testing &amp; Validation:</a:t>
            </a:r>
            <a:r>
              <a:rPr lang="en-IN" sz="2000" dirty="0"/>
              <a:t> Tested system functionality, AI responses, and overall kiosk performance.</a:t>
            </a:r>
          </a:p>
        </p:txBody>
      </p:sp>
    </p:spTree>
    <p:extLst>
      <p:ext uri="{BB962C8B-B14F-4D97-AF65-F5344CB8AC3E}">
        <p14:creationId xmlns:p14="http://schemas.microsoft.com/office/powerpoint/2010/main" val="10825795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Title">
            <a:extLst>
              <a:ext uri="{FF2B5EF4-FFF2-40B4-BE49-F238E27FC236}">
                <a16:creationId xmlns:a16="http://schemas.microsoft.com/office/drawing/2014/main" id="{3AC14BE6-0C46-714B-B7A3-48A9E49BA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7" y="1123116"/>
            <a:ext cx="6701973" cy="622569"/>
          </a:xfrm>
        </p:spPr>
        <p:txBody>
          <a:bodyPr/>
          <a:lstStyle/>
          <a:p>
            <a:r>
              <a:rPr lang="en-US" dirty="0"/>
              <a:t>Activity Duration Table</a:t>
            </a: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B774AD43-9463-CEF5-FDB4-742E929F80C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51386809"/>
              </p:ext>
            </p:extLst>
          </p:nvPr>
        </p:nvGraphicFramePr>
        <p:xfrm>
          <a:off x="705822" y="1923093"/>
          <a:ext cx="8862880" cy="394082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737454">
                  <a:extLst>
                    <a:ext uri="{9D8B030D-6E8A-4147-A177-3AD203B41FA5}">
                      <a16:colId xmlns:a16="http://schemas.microsoft.com/office/drawing/2014/main" val="1229741313"/>
                    </a:ext>
                  </a:extLst>
                </a:gridCol>
                <a:gridCol w="5015617">
                  <a:extLst>
                    <a:ext uri="{9D8B030D-6E8A-4147-A177-3AD203B41FA5}">
                      <a16:colId xmlns:a16="http://schemas.microsoft.com/office/drawing/2014/main" val="1239087719"/>
                    </a:ext>
                  </a:extLst>
                </a:gridCol>
                <a:gridCol w="3109809">
                  <a:extLst>
                    <a:ext uri="{9D8B030D-6E8A-4147-A177-3AD203B41FA5}">
                      <a16:colId xmlns:a16="http://schemas.microsoft.com/office/drawing/2014/main" val="4199366196"/>
                    </a:ext>
                  </a:extLst>
                </a:gridCol>
              </a:tblGrid>
              <a:tr h="39408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000" b="1" dirty="0"/>
                        <a:t>ID</a:t>
                      </a:r>
                    </a:p>
                  </a:txBody>
                  <a:tcPr marL="40019" marR="40019" marT="20009" marB="20009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000" b="1" dirty="0"/>
                        <a:t>Activity Description</a:t>
                      </a:r>
                    </a:p>
                  </a:txBody>
                  <a:tcPr marL="40019" marR="40019" marT="20009" marB="20009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000" b="1" dirty="0"/>
                        <a:t>Duration (Hours)</a:t>
                      </a:r>
                    </a:p>
                  </a:txBody>
                  <a:tcPr marL="40019" marR="40019" marT="20009" marB="20009" anchor="ctr"/>
                </a:tc>
                <a:extLst>
                  <a:ext uri="{0D108BD9-81ED-4DB2-BD59-A6C34878D82A}">
                    <a16:rowId xmlns:a16="http://schemas.microsoft.com/office/drawing/2014/main" val="37195223"/>
                  </a:ext>
                </a:extLst>
              </a:tr>
              <a:tr h="39408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000" b="1"/>
                        <a:t>A</a:t>
                      </a:r>
                      <a:endParaRPr lang="en-IN" sz="2000"/>
                    </a:p>
                  </a:txBody>
                  <a:tcPr marL="40019" marR="40019" marT="20009" marB="20009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000" dirty="0"/>
                        <a:t>Literature Survey</a:t>
                      </a:r>
                    </a:p>
                  </a:txBody>
                  <a:tcPr marL="40019" marR="40019" marT="20009" marB="20009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000" dirty="0"/>
                        <a:t>20</a:t>
                      </a:r>
                    </a:p>
                  </a:txBody>
                  <a:tcPr marL="40019" marR="40019" marT="20009" marB="20009" anchor="ctr"/>
                </a:tc>
                <a:extLst>
                  <a:ext uri="{0D108BD9-81ED-4DB2-BD59-A6C34878D82A}">
                    <a16:rowId xmlns:a16="http://schemas.microsoft.com/office/drawing/2014/main" val="3632619731"/>
                  </a:ext>
                </a:extLst>
              </a:tr>
              <a:tr h="39408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000" b="1"/>
                        <a:t>B</a:t>
                      </a:r>
                      <a:endParaRPr lang="en-IN" sz="2000"/>
                    </a:p>
                  </a:txBody>
                  <a:tcPr marL="40019" marR="40019" marT="20009" marB="20009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000" dirty="0"/>
                        <a:t>Requirement Analysis</a:t>
                      </a:r>
                      <a:endParaRPr lang="en-IN" sz="2000" dirty="0"/>
                    </a:p>
                  </a:txBody>
                  <a:tcPr marL="40019" marR="40019" marT="20009" marB="20009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000"/>
                        <a:t>15</a:t>
                      </a:r>
                    </a:p>
                  </a:txBody>
                  <a:tcPr marL="40019" marR="40019" marT="20009" marB="20009" anchor="ctr"/>
                </a:tc>
                <a:extLst>
                  <a:ext uri="{0D108BD9-81ED-4DB2-BD59-A6C34878D82A}">
                    <a16:rowId xmlns:a16="http://schemas.microsoft.com/office/drawing/2014/main" val="2726574819"/>
                  </a:ext>
                </a:extLst>
              </a:tr>
              <a:tr h="39408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000" b="1"/>
                        <a:t>C</a:t>
                      </a:r>
                      <a:endParaRPr lang="en-IN" sz="2000"/>
                    </a:p>
                  </a:txBody>
                  <a:tcPr marL="40019" marR="40019" marT="20009" marB="20009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000" dirty="0"/>
                        <a:t>U</a:t>
                      </a:r>
                      <a:r>
                        <a:rPr lang="en-IN" sz="2000" dirty="0"/>
                        <a:t>I &amp; Backend Design </a:t>
                      </a:r>
                    </a:p>
                  </a:txBody>
                  <a:tcPr marL="40019" marR="40019" marT="20009" marB="20009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000"/>
                        <a:t>15</a:t>
                      </a:r>
                    </a:p>
                  </a:txBody>
                  <a:tcPr marL="40019" marR="40019" marT="20009" marB="20009" anchor="ctr"/>
                </a:tc>
                <a:extLst>
                  <a:ext uri="{0D108BD9-81ED-4DB2-BD59-A6C34878D82A}">
                    <a16:rowId xmlns:a16="http://schemas.microsoft.com/office/drawing/2014/main" val="3945403924"/>
                  </a:ext>
                </a:extLst>
              </a:tr>
              <a:tr h="39408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000" b="1"/>
                        <a:t>D</a:t>
                      </a:r>
                      <a:endParaRPr lang="en-IN" sz="2000"/>
                    </a:p>
                  </a:txBody>
                  <a:tcPr marL="40019" marR="40019" marT="20009" marB="20009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000" dirty="0"/>
                        <a:t>A</a:t>
                      </a:r>
                      <a:r>
                        <a:rPr lang="en-IN" sz="2000" dirty="0"/>
                        <a:t>I Integration </a:t>
                      </a:r>
                    </a:p>
                  </a:txBody>
                  <a:tcPr marL="40019" marR="40019" marT="20009" marB="20009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000" dirty="0"/>
                        <a:t>40</a:t>
                      </a:r>
                    </a:p>
                  </a:txBody>
                  <a:tcPr marL="40019" marR="40019" marT="20009" marB="20009" anchor="ctr"/>
                </a:tc>
                <a:extLst>
                  <a:ext uri="{0D108BD9-81ED-4DB2-BD59-A6C34878D82A}">
                    <a16:rowId xmlns:a16="http://schemas.microsoft.com/office/drawing/2014/main" val="3638532157"/>
                  </a:ext>
                </a:extLst>
              </a:tr>
              <a:tr h="39408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000" b="1"/>
                        <a:t>E</a:t>
                      </a:r>
                      <a:endParaRPr lang="en-IN" sz="2000"/>
                    </a:p>
                  </a:txBody>
                  <a:tcPr marL="40019" marR="40019" marT="20009" marB="20009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000" dirty="0"/>
                        <a:t>K</a:t>
                      </a:r>
                      <a:r>
                        <a:rPr lang="en-IN" sz="2000" dirty="0"/>
                        <a:t>YC Module Development</a:t>
                      </a:r>
                    </a:p>
                  </a:txBody>
                  <a:tcPr marL="40019" marR="40019" marT="20009" marB="20009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000" dirty="0"/>
                        <a:t>50</a:t>
                      </a:r>
                    </a:p>
                  </a:txBody>
                  <a:tcPr marL="40019" marR="40019" marT="20009" marB="20009" anchor="ctr"/>
                </a:tc>
                <a:extLst>
                  <a:ext uri="{0D108BD9-81ED-4DB2-BD59-A6C34878D82A}">
                    <a16:rowId xmlns:a16="http://schemas.microsoft.com/office/drawing/2014/main" val="1108141785"/>
                  </a:ext>
                </a:extLst>
              </a:tr>
              <a:tr h="39408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000" b="1"/>
                        <a:t>F</a:t>
                      </a:r>
                      <a:endParaRPr lang="en-IN" sz="2000"/>
                    </a:p>
                  </a:txBody>
                  <a:tcPr marL="40019" marR="40019" marT="20009" marB="20009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000" dirty="0"/>
                        <a:t>F</a:t>
                      </a:r>
                      <a:r>
                        <a:rPr lang="en-IN" sz="2000" dirty="0" err="1"/>
                        <a:t>raud</a:t>
                      </a:r>
                      <a:r>
                        <a:rPr lang="en-IN" sz="2000" dirty="0"/>
                        <a:t> Detection Module Development</a:t>
                      </a:r>
                    </a:p>
                  </a:txBody>
                  <a:tcPr marL="40019" marR="40019" marT="20009" marB="20009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000" dirty="0"/>
                        <a:t>10</a:t>
                      </a:r>
                    </a:p>
                  </a:txBody>
                  <a:tcPr marL="40019" marR="40019" marT="20009" marB="20009" anchor="ctr"/>
                </a:tc>
                <a:extLst>
                  <a:ext uri="{0D108BD9-81ED-4DB2-BD59-A6C34878D82A}">
                    <a16:rowId xmlns:a16="http://schemas.microsoft.com/office/drawing/2014/main" val="3435019158"/>
                  </a:ext>
                </a:extLst>
              </a:tr>
              <a:tr h="39408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000" b="1"/>
                        <a:t>G</a:t>
                      </a:r>
                      <a:endParaRPr lang="en-IN" sz="2000"/>
                    </a:p>
                  </a:txBody>
                  <a:tcPr marL="40019" marR="40019" marT="20009" marB="20009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000" dirty="0"/>
                        <a:t>System Integration </a:t>
                      </a:r>
                    </a:p>
                  </a:txBody>
                  <a:tcPr marL="40019" marR="40019" marT="20009" marB="20009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000" dirty="0"/>
                        <a:t>25</a:t>
                      </a:r>
                    </a:p>
                  </a:txBody>
                  <a:tcPr marL="40019" marR="40019" marT="20009" marB="20009" anchor="ctr"/>
                </a:tc>
                <a:extLst>
                  <a:ext uri="{0D108BD9-81ED-4DB2-BD59-A6C34878D82A}">
                    <a16:rowId xmlns:a16="http://schemas.microsoft.com/office/drawing/2014/main" val="2418512038"/>
                  </a:ext>
                </a:extLst>
              </a:tr>
              <a:tr h="39408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000" b="1"/>
                        <a:t>H</a:t>
                      </a:r>
                      <a:endParaRPr lang="en-IN" sz="2000"/>
                    </a:p>
                  </a:txBody>
                  <a:tcPr marL="40019" marR="40019" marT="20009" marB="20009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000" dirty="0"/>
                        <a:t>T</a:t>
                      </a:r>
                      <a:r>
                        <a:rPr lang="en-IN" sz="2000" dirty="0" err="1"/>
                        <a:t>esting</a:t>
                      </a:r>
                      <a:r>
                        <a:rPr lang="en-IN" sz="2000" dirty="0"/>
                        <a:t> &amp; Validation </a:t>
                      </a:r>
                    </a:p>
                  </a:txBody>
                  <a:tcPr marL="40019" marR="40019" marT="20009" marB="20009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000" dirty="0"/>
                        <a:t>25</a:t>
                      </a:r>
                    </a:p>
                  </a:txBody>
                  <a:tcPr marL="40019" marR="40019" marT="20009" marB="20009" anchor="ctr"/>
                </a:tc>
                <a:extLst>
                  <a:ext uri="{0D108BD9-81ED-4DB2-BD59-A6C34878D82A}">
                    <a16:rowId xmlns:a16="http://schemas.microsoft.com/office/drawing/2014/main" val="2256580414"/>
                  </a:ext>
                </a:extLst>
              </a:tr>
              <a:tr h="39408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000" b="1"/>
                        <a:t>Total</a:t>
                      </a:r>
                      <a:endParaRPr lang="en-IN" sz="2000"/>
                    </a:p>
                  </a:txBody>
                  <a:tcPr marL="40019" marR="40019" marT="20009" marB="20009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000" b="1"/>
                        <a:t>Project Duration</a:t>
                      </a:r>
                      <a:endParaRPr lang="en-IN" sz="2000"/>
                    </a:p>
                  </a:txBody>
                  <a:tcPr marL="40019" marR="40019" marT="20009" marB="20009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000" b="1" dirty="0"/>
                        <a:t>200 Hours</a:t>
                      </a:r>
                      <a:endParaRPr lang="en-IN" sz="2000" dirty="0"/>
                    </a:p>
                  </a:txBody>
                  <a:tcPr marL="40019" marR="40019" marT="20009" marB="20009" anchor="ctr"/>
                </a:tc>
                <a:extLst>
                  <a:ext uri="{0D108BD9-81ED-4DB2-BD59-A6C34878D82A}">
                    <a16:rowId xmlns:a16="http://schemas.microsoft.com/office/drawing/2014/main" val="3035457282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12435FF2-28C8-2D2D-BDEB-0C5DCD1A98EC}"/>
              </a:ext>
            </a:extLst>
          </p:cNvPr>
          <p:cNvSpPr/>
          <p:nvPr/>
        </p:nvSpPr>
        <p:spPr>
          <a:xfrm>
            <a:off x="0" y="12699"/>
            <a:ext cx="12192000" cy="93300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b="1" dirty="0">
                <a:solidFill>
                  <a:schemeClr val="bg1"/>
                </a:solidFill>
              </a:rPr>
              <a:t> KNOWLEDGE INSTITUTE OF TECHNOLOGY</a:t>
            </a:r>
          </a:p>
        </p:txBody>
      </p:sp>
      <p:pic>
        <p:nvPicPr>
          <p:cNvPr id="6" name="Picture 2" descr="Knowledge Institute of Technology – Salem Tamilnadu">
            <a:extLst>
              <a:ext uri="{FF2B5EF4-FFF2-40B4-BE49-F238E27FC236}">
                <a16:creationId xmlns:a16="http://schemas.microsoft.com/office/drawing/2014/main" id="{26419DA3-9A42-55A5-4228-4E21C30A88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1663" y="28295"/>
            <a:ext cx="892617" cy="8926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717324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">
            <a:extLst>
              <a:ext uri="{FF2B5EF4-FFF2-40B4-BE49-F238E27FC236}">
                <a16:creationId xmlns:a16="http://schemas.microsoft.com/office/drawing/2014/main" id="{185F3C10-40FA-5845-8029-D5490ECDA88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fld id="{85954F8D-B7E6-D640-BC50-D014E954A05D}" type="slidenum">
              <a:rPr lang="en-US" smtClean="0"/>
              <a:t>7</a:t>
            </a:fld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450BACB-BAD2-B811-AEB3-0D7478CF0CFD}"/>
              </a:ext>
            </a:extLst>
          </p:cNvPr>
          <p:cNvSpPr/>
          <p:nvPr/>
        </p:nvSpPr>
        <p:spPr>
          <a:xfrm>
            <a:off x="0" y="12699"/>
            <a:ext cx="12192000" cy="93300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b="1" dirty="0">
                <a:solidFill>
                  <a:schemeClr val="bg1"/>
                </a:solidFill>
              </a:rPr>
              <a:t> KNOWLEDGE INSTITUTE OF TECHNOLOGY</a:t>
            </a:r>
          </a:p>
        </p:txBody>
      </p:sp>
      <p:pic>
        <p:nvPicPr>
          <p:cNvPr id="22" name="Picture 2" descr="Knowledge Institute of Technology – Salem Tamilnadu">
            <a:extLst>
              <a:ext uri="{FF2B5EF4-FFF2-40B4-BE49-F238E27FC236}">
                <a16:creationId xmlns:a16="http://schemas.microsoft.com/office/drawing/2014/main" id="{245FC4DD-935D-244C-F1FD-8A9F36222F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1663" y="28295"/>
            <a:ext cx="892617" cy="8926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27F1A5EB-5483-8BBB-1ED9-5B087FDDE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7" y="1229152"/>
            <a:ext cx="6794571" cy="574263"/>
          </a:xfrm>
        </p:spPr>
        <p:txBody>
          <a:bodyPr/>
          <a:lstStyle/>
          <a:p>
            <a:r>
              <a:rPr lang="en-IN" dirty="0"/>
              <a:t>Activity Precedence Table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2DEFA823-165D-98CF-EFD4-FE0091B5482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03564964"/>
              </p:ext>
            </p:extLst>
          </p:nvPr>
        </p:nvGraphicFramePr>
        <p:xfrm>
          <a:off x="751114" y="2083661"/>
          <a:ext cx="8001000" cy="4183423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667000">
                  <a:extLst>
                    <a:ext uri="{9D8B030D-6E8A-4147-A177-3AD203B41FA5}">
                      <a16:colId xmlns:a16="http://schemas.microsoft.com/office/drawing/2014/main" val="2386648661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832366628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2544534130"/>
                    </a:ext>
                  </a:extLst>
                </a:gridCol>
              </a:tblGrid>
              <a:tr h="40115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 dirty="0"/>
                        <a:t>ID</a:t>
                      </a:r>
                    </a:p>
                  </a:txBody>
                  <a:tcPr marL="36954" marR="36954" marT="18477" marB="1847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/>
                        <a:t>Activity</a:t>
                      </a:r>
                    </a:p>
                  </a:txBody>
                  <a:tcPr marL="36954" marR="36954" marT="18477" marB="1847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 dirty="0"/>
                        <a:t>Predecessor</a:t>
                      </a:r>
                    </a:p>
                  </a:txBody>
                  <a:tcPr marL="36954" marR="36954" marT="18477" marB="18477" anchor="ctr"/>
                </a:tc>
                <a:extLst>
                  <a:ext uri="{0D108BD9-81ED-4DB2-BD59-A6C34878D82A}">
                    <a16:rowId xmlns:a16="http://schemas.microsoft.com/office/drawing/2014/main" val="3490167243"/>
                  </a:ext>
                </a:extLst>
              </a:tr>
              <a:tr h="40115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dirty="0"/>
                        <a:t>A</a:t>
                      </a:r>
                    </a:p>
                  </a:txBody>
                  <a:tcPr marL="36954" marR="36954" marT="18477" marB="1847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Literature Survey</a:t>
                      </a:r>
                    </a:p>
                  </a:txBody>
                  <a:tcPr marL="36954" marR="36954" marT="18477" marB="1847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/>
                        <a:t>—</a:t>
                      </a:r>
                    </a:p>
                  </a:txBody>
                  <a:tcPr marL="36954" marR="36954" marT="18477" marB="18477" anchor="ctr"/>
                </a:tc>
                <a:extLst>
                  <a:ext uri="{0D108BD9-81ED-4DB2-BD59-A6C34878D82A}">
                    <a16:rowId xmlns:a16="http://schemas.microsoft.com/office/drawing/2014/main" val="2406545956"/>
                  </a:ext>
                </a:extLst>
              </a:tr>
              <a:tr h="40115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dirty="0"/>
                        <a:t>B</a:t>
                      </a:r>
                    </a:p>
                  </a:txBody>
                  <a:tcPr marL="36954" marR="36954" marT="18477" marB="1847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Requirement Analysis</a:t>
                      </a:r>
                    </a:p>
                  </a:txBody>
                  <a:tcPr marL="36954" marR="36954" marT="18477" marB="1847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/>
                        <a:t>A</a:t>
                      </a:r>
                    </a:p>
                  </a:txBody>
                  <a:tcPr marL="36954" marR="36954" marT="18477" marB="18477" anchor="ctr"/>
                </a:tc>
                <a:extLst>
                  <a:ext uri="{0D108BD9-81ED-4DB2-BD59-A6C34878D82A}">
                    <a16:rowId xmlns:a16="http://schemas.microsoft.com/office/drawing/2014/main" val="623055491"/>
                  </a:ext>
                </a:extLst>
              </a:tr>
              <a:tr h="40115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dirty="0"/>
                        <a:t>C</a:t>
                      </a:r>
                    </a:p>
                  </a:txBody>
                  <a:tcPr marL="36954" marR="36954" marT="18477" marB="1847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UI &amp; Backend Design</a:t>
                      </a:r>
                    </a:p>
                  </a:txBody>
                  <a:tcPr marL="36954" marR="36954" marT="18477" marB="1847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/>
                        <a:t>B</a:t>
                      </a:r>
                    </a:p>
                  </a:txBody>
                  <a:tcPr marL="36954" marR="36954" marT="18477" marB="18477" anchor="ctr"/>
                </a:tc>
                <a:extLst>
                  <a:ext uri="{0D108BD9-81ED-4DB2-BD59-A6C34878D82A}">
                    <a16:rowId xmlns:a16="http://schemas.microsoft.com/office/drawing/2014/main" val="1931352089"/>
                  </a:ext>
                </a:extLst>
              </a:tr>
              <a:tr h="40115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/>
                        <a:t>D</a:t>
                      </a:r>
                    </a:p>
                  </a:txBody>
                  <a:tcPr marL="36954" marR="36954" marT="18477" marB="1847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AI Integration</a:t>
                      </a:r>
                    </a:p>
                  </a:txBody>
                  <a:tcPr marL="36954" marR="36954" marT="18477" marB="1847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/>
                        <a:t>C</a:t>
                      </a:r>
                    </a:p>
                  </a:txBody>
                  <a:tcPr marL="36954" marR="36954" marT="18477" marB="18477" anchor="ctr"/>
                </a:tc>
                <a:extLst>
                  <a:ext uri="{0D108BD9-81ED-4DB2-BD59-A6C34878D82A}">
                    <a16:rowId xmlns:a16="http://schemas.microsoft.com/office/drawing/2014/main" val="3868927484"/>
                  </a:ext>
                </a:extLst>
              </a:tr>
              <a:tr h="67335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/>
                        <a:t>E</a:t>
                      </a:r>
                    </a:p>
                  </a:txBody>
                  <a:tcPr marL="36954" marR="36954" marT="18477" marB="1847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KYC Module Development</a:t>
                      </a:r>
                    </a:p>
                  </a:txBody>
                  <a:tcPr marL="36954" marR="36954" marT="18477" marB="1847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/>
                        <a:t>C</a:t>
                      </a:r>
                    </a:p>
                  </a:txBody>
                  <a:tcPr marL="36954" marR="36954" marT="18477" marB="18477" anchor="ctr"/>
                </a:tc>
                <a:extLst>
                  <a:ext uri="{0D108BD9-81ED-4DB2-BD59-A6C34878D82A}">
                    <a16:rowId xmlns:a16="http://schemas.microsoft.com/office/drawing/2014/main" val="2070006152"/>
                  </a:ext>
                </a:extLst>
              </a:tr>
              <a:tr h="70201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/>
                        <a:t>F</a:t>
                      </a:r>
                    </a:p>
                  </a:txBody>
                  <a:tcPr marL="36954" marR="36954" marT="18477" marB="1847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Fraud Detection Module Development</a:t>
                      </a:r>
                    </a:p>
                  </a:txBody>
                  <a:tcPr marL="36954" marR="36954" marT="18477" marB="1847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dirty="0"/>
                        <a:t>C</a:t>
                      </a:r>
                    </a:p>
                  </a:txBody>
                  <a:tcPr marL="36954" marR="36954" marT="18477" marB="18477" anchor="ctr"/>
                </a:tc>
                <a:extLst>
                  <a:ext uri="{0D108BD9-81ED-4DB2-BD59-A6C34878D82A}">
                    <a16:rowId xmlns:a16="http://schemas.microsoft.com/office/drawing/2014/main" val="2128328879"/>
                  </a:ext>
                </a:extLst>
              </a:tr>
              <a:tr h="40115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/>
                        <a:t>G</a:t>
                      </a:r>
                    </a:p>
                  </a:txBody>
                  <a:tcPr marL="36954" marR="36954" marT="18477" marB="1847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System Integration</a:t>
                      </a:r>
                    </a:p>
                  </a:txBody>
                  <a:tcPr marL="36954" marR="36954" marT="18477" marB="1847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dirty="0"/>
                        <a:t>D, E, F</a:t>
                      </a:r>
                    </a:p>
                  </a:txBody>
                  <a:tcPr marL="36954" marR="36954" marT="18477" marB="18477" anchor="ctr"/>
                </a:tc>
                <a:extLst>
                  <a:ext uri="{0D108BD9-81ED-4DB2-BD59-A6C34878D82A}">
                    <a16:rowId xmlns:a16="http://schemas.microsoft.com/office/drawing/2014/main" val="3005014039"/>
                  </a:ext>
                </a:extLst>
              </a:tr>
              <a:tr h="40115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/>
                        <a:t>H</a:t>
                      </a:r>
                    </a:p>
                  </a:txBody>
                  <a:tcPr marL="36954" marR="36954" marT="18477" marB="1847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Testing &amp; Validation</a:t>
                      </a:r>
                    </a:p>
                  </a:txBody>
                  <a:tcPr marL="36954" marR="36954" marT="18477" marB="1847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dirty="0"/>
                        <a:t>G</a:t>
                      </a:r>
                    </a:p>
                  </a:txBody>
                  <a:tcPr marL="36954" marR="36954" marT="18477" marB="18477" anchor="ctr"/>
                </a:tc>
                <a:extLst>
                  <a:ext uri="{0D108BD9-81ED-4DB2-BD59-A6C34878D82A}">
                    <a16:rowId xmlns:a16="http://schemas.microsoft.com/office/drawing/2014/main" val="32883175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211353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">
            <a:extLst>
              <a:ext uri="{FF2B5EF4-FFF2-40B4-BE49-F238E27FC236}">
                <a16:creationId xmlns:a16="http://schemas.microsoft.com/office/drawing/2014/main" id="{74204B13-12CE-5849-82EE-2A784C3AC22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fld id="{EB53C135-CEC6-A548-8917-8F7FEB82358B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58" name="Title 57">
            <a:extLst>
              <a:ext uri="{FF2B5EF4-FFF2-40B4-BE49-F238E27FC236}">
                <a16:creationId xmlns:a16="http://schemas.microsoft.com/office/drawing/2014/main" id="{3A9EFF2A-3D5F-B622-E440-9E0445FE1A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1204150"/>
            <a:ext cx="6951472" cy="590931"/>
          </a:xfrm>
        </p:spPr>
        <p:txBody>
          <a:bodyPr/>
          <a:lstStyle/>
          <a:p>
            <a:r>
              <a:rPr lang="en-IN" dirty="0"/>
              <a:t>Glossary: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EDB0BD1B-638F-3CA9-D944-D5AA0B38D913}"/>
              </a:ext>
            </a:extLst>
          </p:cNvPr>
          <p:cNvSpPr/>
          <p:nvPr/>
        </p:nvSpPr>
        <p:spPr>
          <a:xfrm>
            <a:off x="0" y="12699"/>
            <a:ext cx="12192000" cy="93300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b="1" dirty="0">
                <a:solidFill>
                  <a:schemeClr val="bg1"/>
                </a:solidFill>
              </a:rPr>
              <a:t> KNOWLEDGE INSTITUTE OF TECHNOLOGY</a:t>
            </a:r>
          </a:p>
        </p:txBody>
      </p:sp>
      <p:pic>
        <p:nvPicPr>
          <p:cNvPr id="60" name="Picture 2" descr="Knowledge Institute of Technology – Salem Tamilnadu">
            <a:extLst>
              <a:ext uri="{FF2B5EF4-FFF2-40B4-BE49-F238E27FC236}">
                <a16:creationId xmlns:a16="http://schemas.microsoft.com/office/drawing/2014/main" id="{3843E347-A6B6-62FF-37CF-F04424D6C2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1663" y="28295"/>
            <a:ext cx="892617" cy="8926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695DA92-F948-A6F7-CB8A-8C0CCFDC5AB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25548" y="2155729"/>
            <a:ext cx="11127362" cy="33131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2000" b="1" dirty="0"/>
              <a:t>AI (Artificial Intelligence):</a:t>
            </a:r>
            <a:r>
              <a:rPr lang="en-IN" sz="2000" dirty="0"/>
              <a:t> Provides intelligent responses to user queries. </a:t>
            </a:r>
          </a:p>
          <a:p>
            <a:r>
              <a:rPr lang="en-IN" sz="2000" b="1" dirty="0"/>
              <a:t>KYC (Know Your Customer):</a:t>
            </a:r>
            <a:r>
              <a:rPr lang="en-IN" sz="2000" dirty="0"/>
              <a:t> Verifies a user's identity. </a:t>
            </a:r>
          </a:p>
          <a:p>
            <a:r>
              <a:rPr lang="en-IN" sz="2000" b="1" dirty="0"/>
              <a:t>Flask:</a:t>
            </a:r>
            <a:r>
              <a:rPr lang="en-IN" sz="2000" dirty="0"/>
              <a:t> Python framework for web application development. </a:t>
            </a:r>
          </a:p>
          <a:p>
            <a:r>
              <a:rPr lang="en-IN" sz="2000" b="1" dirty="0" err="1"/>
              <a:t>Groq</a:t>
            </a:r>
            <a:r>
              <a:rPr lang="en-IN" sz="2000" b="1" dirty="0"/>
              <a:t> API:</a:t>
            </a:r>
            <a:r>
              <a:rPr lang="en-IN" sz="2000" dirty="0"/>
              <a:t> AI service for generating financial advice. </a:t>
            </a:r>
          </a:p>
          <a:p>
            <a:r>
              <a:rPr lang="en-IN" sz="2000" b="1" dirty="0"/>
              <a:t>Raspberry Pi 4:</a:t>
            </a:r>
            <a:r>
              <a:rPr lang="en-IN" sz="2000" dirty="0"/>
              <a:t> Main computing device of the kiosk. </a:t>
            </a:r>
          </a:p>
          <a:p>
            <a:r>
              <a:rPr lang="en-IN" sz="2000" b="1" dirty="0"/>
              <a:t>API (Application Programming Interface):</a:t>
            </a:r>
            <a:r>
              <a:rPr lang="en-IN" sz="2000" dirty="0"/>
              <a:t> Connects different software applications. </a:t>
            </a:r>
          </a:p>
          <a:p>
            <a:r>
              <a:rPr lang="en-IN" sz="2000" b="1" dirty="0"/>
              <a:t>Fraud Detection:</a:t>
            </a:r>
            <a:r>
              <a:rPr lang="en-IN" sz="2000" dirty="0"/>
              <a:t> Identifies potential financial risks. </a:t>
            </a:r>
          </a:p>
        </p:txBody>
      </p:sp>
    </p:spTree>
    <p:extLst>
      <p:ext uri="{BB962C8B-B14F-4D97-AF65-F5344CB8AC3E}">
        <p14:creationId xmlns:p14="http://schemas.microsoft.com/office/powerpoint/2010/main" val="2782886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479EA7-98F6-6B2B-D294-AF99CB4931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">
            <a:extLst>
              <a:ext uri="{FF2B5EF4-FFF2-40B4-BE49-F238E27FC236}">
                <a16:creationId xmlns:a16="http://schemas.microsoft.com/office/drawing/2014/main" id="{38533669-9E2E-BCA1-4AC3-2F61F885F7C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fld id="{85954F8D-B7E6-D640-BC50-D014E954A05D}" type="slidenum">
              <a:rPr lang="en-US" smtClean="0"/>
              <a:t>9</a:t>
            </a:fld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D9EAD4E-4CBA-3CFB-BDAF-B4DEAA604ED3}"/>
              </a:ext>
            </a:extLst>
          </p:cNvPr>
          <p:cNvSpPr/>
          <p:nvPr/>
        </p:nvSpPr>
        <p:spPr>
          <a:xfrm>
            <a:off x="0" y="12699"/>
            <a:ext cx="12192000" cy="93300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b="1" dirty="0">
                <a:solidFill>
                  <a:schemeClr val="bg1"/>
                </a:solidFill>
              </a:rPr>
              <a:t> KNOWLEDGE INSTITUTE OF TECHNOLOGY</a:t>
            </a:r>
          </a:p>
        </p:txBody>
      </p:sp>
      <p:pic>
        <p:nvPicPr>
          <p:cNvPr id="22" name="Picture 2" descr="Knowledge Institute of Technology – Salem Tamilnadu">
            <a:extLst>
              <a:ext uri="{FF2B5EF4-FFF2-40B4-BE49-F238E27FC236}">
                <a16:creationId xmlns:a16="http://schemas.microsoft.com/office/drawing/2014/main" id="{ADC90A71-DE45-773A-657E-79A894C659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1663" y="28295"/>
            <a:ext cx="892617" cy="8926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6A1CCCC5-39BE-33E1-78FE-2611576643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7" y="1212484"/>
            <a:ext cx="7765543" cy="590931"/>
          </a:xfrm>
        </p:spPr>
        <p:txBody>
          <a:bodyPr/>
          <a:lstStyle/>
          <a:p>
            <a:r>
              <a:rPr lang="en-IN" dirty="0"/>
              <a:t>Core</a:t>
            </a:r>
            <a:r>
              <a:rPr lang="en-IN" b="1" dirty="0"/>
              <a:t> </a:t>
            </a:r>
            <a:r>
              <a:rPr lang="en-IN" dirty="0"/>
              <a:t>Technologies</a:t>
            </a:r>
            <a:r>
              <a:rPr lang="en-IN" b="1" dirty="0"/>
              <a:t> </a:t>
            </a:r>
            <a:r>
              <a:rPr lang="en-IN" dirty="0"/>
              <a:t>&amp; Principles 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0BCB7B48-4B54-1AA9-C2C4-414E23B3118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66927" y="2052811"/>
            <a:ext cx="11320272" cy="33478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IN" sz="2400" b="1" dirty="0"/>
              <a:t>Natural Language Processing (NLP):</a:t>
            </a:r>
            <a:r>
              <a:rPr lang="en-IN" sz="2400" dirty="0"/>
              <a:t> Understands user financial queries.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IN" sz="2400" b="1" dirty="0"/>
              <a:t>Client–Server Architecture:</a:t>
            </a:r>
            <a:r>
              <a:rPr lang="en-IN" sz="2400" dirty="0"/>
              <a:t> Connects the user interface with the backend. 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IN" sz="2400" b="1" dirty="0"/>
              <a:t>REST API:</a:t>
            </a:r>
            <a:r>
              <a:rPr lang="en-IN" sz="2400" dirty="0"/>
              <a:t> Enables communication with the </a:t>
            </a:r>
            <a:r>
              <a:rPr lang="en-IN" sz="2400" dirty="0" err="1"/>
              <a:t>Groq</a:t>
            </a:r>
            <a:r>
              <a:rPr lang="en-IN" sz="2400" dirty="0"/>
              <a:t> AI service. 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IN" sz="2400" b="1" dirty="0"/>
              <a:t>Authentication:</a:t>
            </a:r>
            <a:r>
              <a:rPr lang="en-IN" sz="2400" dirty="0"/>
              <a:t> Verifies user identity before granting access. 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IN" sz="2400" b="1" dirty="0"/>
              <a:t>Database Management:</a:t>
            </a:r>
            <a:r>
              <a:rPr lang="en-IN" sz="2400" dirty="0"/>
              <a:t> Stores user records and activity history. 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IN" sz="2400" b="1" dirty="0"/>
              <a:t>Edge Computing:</a:t>
            </a:r>
            <a:r>
              <a:rPr lang="en-IN" sz="2400" dirty="0"/>
              <a:t> Raspberry Pi processes requests locally.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12762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6927BB-7CFF-8D68-3D96-552C7AF6A9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">
            <a:extLst>
              <a:ext uri="{FF2B5EF4-FFF2-40B4-BE49-F238E27FC236}">
                <a16:creationId xmlns:a16="http://schemas.microsoft.com/office/drawing/2014/main" id="{010332AB-4FEA-B0A0-1609-E0A59408925E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fld id="{85954F8D-B7E6-D640-BC50-D014E954A05D}" type="slidenum">
              <a:rPr lang="en-US" smtClean="0"/>
              <a:t>10</a:t>
            </a:fld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D8CD9C6-AE63-3585-1672-1EF8752C48EE}"/>
              </a:ext>
            </a:extLst>
          </p:cNvPr>
          <p:cNvSpPr/>
          <p:nvPr/>
        </p:nvSpPr>
        <p:spPr>
          <a:xfrm>
            <a:off x="0" y="12699"/>
            <a:ext cx="12192000" cy="93300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b="1" dirty="0">
                <a:solidFill>
                  <a:schemeClr val="bg1"/>
                </a:solidFill>
              </a:rPr>
              <a:t> KNOWLEDGE INSTITUTE OF TECHNOLOGY</a:t>
            </a:r>
          </a:p>
        </p:txBody>
      </p:sp>
      <p:pic>
        <p:nvPicPr>
          <p:cNvPr id="22" name="Picture 2" descr="Knowledge Institute of Technology – Salem Tamilnadu">
            <a:extLst>
              <a:ext uri="{FF2B5EF4-FFF2-40B4-BE49-F238E27FC236}">
                <a16:creationId xmlns:a16="http://schemas.microsoft.com/office/drawing/2014/main" id="{AA6C2931-DC1E-6305-AF2A-4E95B823BE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1663" y="28295"/>
            <a:ext cx="892617" cy="8926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E18C957-F7D2-2F8E-B1E8-92E1D87B0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7" y="1088831"/>
            <a:ext cx="6794571" cy="590931"/>
          </a:xfrm>
        </p:spPr>
        <p:txBody>
          <a:bodyPr/>
          <a:lstStyle/>
          <a:p>
            <a:r>
              <a:rPr lang="en-IN" dirty="0"/>
              <a:t>Concept Rules &amp; Laws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4B01320-DC36-76C7-1B69-C440727F530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66927" y="1854051"/>
            <a:ext cx="10943083" cy="33478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IN" sz="2400" b="1" dirty="0"/>
              <a:t>Client–Server Architecture:</a:t>
            </a:r>
            <a:r>
              <a:rPr lang="en-IN" sz="2400" dirty="0"/>
              <a:t> Enables communication between the user interface and backend. 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IN" sz="2400" b="1" dirty="0"/>
              <a:t>REST API Principle:</a:t>
            </a:r>
            <a:r>
              <a:rPr lang="en-IN" sz="2400" dirty="0"/>
              <a:t> Facilitates secure data exchange with the AI service.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IN" sz="2400" b="1" dirty="0"/>
              <a:t>Authentication Principle:</a:t>
            </a:r>
            <a:r>
              <a:rPr lang="en-IN" sz="2400" dirty="0"/>
              <a:t> Ensures only authorized users access the system.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IN" sz="2400" b="1" dirty="0"/>
              <a:t>CRUD Operations:</a:t>
            </a:r>
            <a:r>
              <a:rPr lang="en-IN" sz="2400" dirty="0"/>
              <a:t> Create, Read, Update, and Delete user records in the database.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22140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E729C4-38BF-184D-7672-1FD204282A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">
            <a:extLst>
              <a:ext uri="{FF2B5EF4-FFF2-40B4-BE49-F238E27FC236}">
                <a16:creationId xmlns:a16="http://schemas.microsoft.com/office/drawing/2014/main" id="{D2C2B464-E3B2-8604-4847-B8653FF8C2D6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fld id="{85954F8D-B7E6-D640-BC50-D014E954A05D}" type="slidenum">
              <a:rPr lang="en-US" smtClean="0"/>
              <a:t>11</a:t>
            </a:fld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223A500-B993-985A-34EC-928D6E1D4532}"/>
              </a:ext>
            </a:extLst>
          </p:cNvPr>
          <p:cNvSpPr/>
          <p:nvPr/>
        </p:nvSpPr>
        <p:spPr>
          <a:xfrm>
            <a:off x="0" y="12699"/>
            <a:ext cx="12192000" cy="93300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b="1" dirty="0">
                <a:solidFill>
                  <a:schemeClr val="bg1"/>
                </a:solidFill>
              </a:rPr>
              <a:t> KNOWLEDGE INSTITUTE OF TECHNOLOGY</a:t>
            </a:r>
          </a:p>
        </p:txBody>
      </p:sp>
      <p:pic>
        <p:nvPicPr>
          <p:cNvPr id="22" name="Picture 2" descr="Knowledge Institute of Technology – Salem Tamilnadu">
            <a:extLst>
              <a:ext uri="{FF2B5EF4-FFF2-40B4-BE49-F238E27FC236}">
                <a16:creationId xmlns:a16="http://schemas.microsoft.com/office/drawing/2014/main" id="{193B5C55-C4F9-BF6A-FB21-82CA108C32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1663" y="28295"/>
            <a:ext cx="892617" cy="8926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2A19A17C-EBB5-ECD6-B2A3-3BDDB7E433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6456" y="1027113"/>
            <a:ext cx="6794571" cy="535531"/>
          </a:xfrm>
        </p:spPr>
        <p:txBody>
          <a:bodyPr/>
          <a:lstStyle/>
          <a:p>
            <a:r>
              <a:rPr lang="en-IN" sz="3200" dirty="0"/>
              <a:t>System Components &amp; Technologies</a:t>
            </a:r>
            <a:endParaRPr lang="en-IN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0230A94E-AFDC-902C-E047-8DD9DAFF2D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1338862"/>
              </p:ext>
            </p:extLst>
          </p:nvPr>
        </p:nvGraphicFramePr>
        <p:xfrm>
          <a:off x="566738" y="1917559"/>
          <a:ext cx="8897302" cy="3430364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3214794">
                  <a:extLst>
                    <a:ext uri="{9D8B030D-6E8A-4147-A177-3AD203B41FA5}">
                      <a16:colId xmlns:a16="http://schemas.microsoft.com/office/drawing/2014/main" val="103030578"/>
                    </a:ext>
                  </a:extLst>
                </a:gridCol>
                <a:gridCol w="5682508">
                  <a:extLst>
                    <a:ext uri="{9D8B030D-6E8A-4147-A177-3AD203B41FA5}">
                      <a16:colId xmlns:a16="http://schemas.microsoft.com/office/drawing/2014/main" val="832105066"/>
                    </a:ext>
                  </a:extLst>
                </a:gridCol>
              </a:tblGrid>
              <a:tr h="4900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/>
                        <a:t>Technology</a:t>
                      </a:r>
                      <a:endParaRPr lang="en-IN" sz="2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/>
                        <a:t>Purpose</a:t>
                      </a:r>
                      <a:endParaRPr lang="en-IN" sz="20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246720"/>
                  </a:ext>
                </a:extLst>
              </a:tr>
              <a:tr h="4900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Python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Backend programming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54376501"/>
                  </a:ext>
                </a:extLst>
              </a:tr>
              <a:tr h="4900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Flask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Web application framework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22935467"/>
                  </a:ext>
                </a:extLst>
              </a:tr>
              <a:tr h="4900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Raspberry Pi 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Main computing platform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36052259"/>
                  </a:ext>
                </a:extLst>
              </a:tr>
              <a:tr h="4900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Groq API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AI-powered financial advisor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62934964"/>
                  </a:ext>
                </a:extLst>
              </a:tr>
              <a:tr h="4900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HTML &amp; CSS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User interface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32820404"/>
                  </a:ext>
                </a:extLst>
              </a:tr>
              <a:tr h="4900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Database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Stores user records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981772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591354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B6E226-18E3-A918-1889-F64652F879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 Number">
            <a:extLst>
              <a:ext uri="{FF2B5EF4-FFF2-40B4-BE49-F238E27FC236}">
                <a16:creationId xmlns:a16="http://schemas.microsoft.com/office/drawing/2014/main" id="{49277DEC-FD55-B750-99F6-ED4AF3D2B34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fld id="{2E1B3BED-EDDA-2E42-813F-F157009AF3C2}" type="slidenum">
              <a:rPr lang="en-US" smtClean="0"/>
              <a:t>12</a:t>
            </a:fld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1D44474-B6A9-2E80-CFB1-F6A61E5207D1}"/>
              </a:ext>
            </a:extLst>
          </p:cNvPr>
          <p:cNvSpPr/>
          <p:nvPr/>
        </p:nvSpPr>
        <p:spPr>
          <a:xfrm>
            <a:off x="0" y="12699"/>
            <a:ext cx="12192000" cy="93300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b="1" dirty="0">
                <a:solidFill>
                  <a:schemeClr val="bg1"/>
                </a:solidFill>
              </a:rPr>
              <a:t> KNOWLEDGE INSTITUTE OF TECHNOLOGY</a:t>
            </a:r>
          </a:p>
        </p:txBody>
      </p:sp>
      <p:pic>
        <p:nvPicPr>
          <p:cNvPr id="11" name="Picture 2" descr="Knowledge Institute of Technology – Salem Tamilnadu">
            <a:extLst>
              <a:ext uri="{FF2B5EF4-FFF2-40B4-BE49-F238E27FC236}">
                <a16:creationId xmlns:a16="http://schemas.microsoft.com/office/drawing/2014/main" id="{18AF6717-8050-162E-0152-455468FEFE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1663" y="28295"/>
            <a:ext cx="892617" cy="8926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itle 3">
            <a:extLst>
              <a:ext uri="{FF2B5EF4-FFF2-40B4-BE49-F238E27FC236}">
                <a16:creationId xmlns:a16="http://schemas.microsoft.com/office/drawing/2014/main" id="{11A54090-C1CD-E4C7-7C4F-120173108496}"/>
              </a:ext>
            </a:extLst>
          </p:cNvPr>
          <p:cNvSpPr txBox="1">
            <a:spLocks/>
          </p:cNvSpPr>
          <p:nvPr/>
        </p:nvSpPr>
        <p:spPr>
          <a:xfrm>
            <a:off x="566928" y="1325496"/>
            <a:ext cx="2993908" cy="480131"/>
          </a:xfrm>
          <a:prstGeom prst="rect">
            <a:avLst/>
          </a:prstGeom>
        </p:spPr>
        <p:txBody>
          <a:bodyPr vert="horz" wrap="square" lIns="91440" tIns="45720" rIns="91440" bIns="45720" rtlCol="0" anchor="b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0" i="0" kern="1200">
                <a:solidFill>
                  <a:schemeClr val="tx2"/>
                </a:solidFill>
                <a:latin typeface="Georgia" panose="02040502050405020303" pitchFamily="18" charset="0"/>
                <a:ea typeface="+mj-ea"/>
                <a:cs typeface="+mj-cs"/>
              </a:defRPr>
            </a:lvl1pPr>
          </a:lstStyle>
          <a:p>
            <a:r>
              <a:rPr lang="en-IN" sz="2800" dirty="0"/>
              <a:t>System Model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E421D85-03EC-4FD1-9954-E5A663E92C29}"/>
              </a:ext>
            </a:extLst>
          </p:cNvPr>
          <p:cNvSpPr/>
          <p:nvPr/>
        </p:nvSpPr>
        <p:spPr>
          <a:xfrm>
            <a:off x="771916" y="2000250"/>
            <a:ext cx="1531620" cy="82296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USER</a:t>
            </a:r>
            <a:endParaRPr lang="en-IN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DB8789C-EA5F-DAD5-A2AD-A558AF55BC47}"/>
              </a:ext>
            </a:extLst>
          </p:cNvPr>
          <p:cNvSpPr/>
          <p:nvPr/>
        </p:nvSpPr>
        <p:spPr>
          <a:xfrm>
            <a:off x="3198886" y="2000250"/>
            <a:ext cx="1531620" cy="82296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LOGIN</a:t>
            </a:r>
            <a:endParaRPr lang="en-IN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89E449D-89F8-9AF6-3B30-630D92BDE2D0}"/>
              </a:ext>
            </a:extLst>
          </p:cNvPr>
          <p:cNvSpPr/>
          <p:nvPr/>
        </p:nvSpPr>
        <p:spPr>
          <a:xfrm>
            <a:off x="5498856" y="2000250"/>
            <a:ext cx="1689344" cy="82296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DASHBOARD</a:t>
            </a:r>
            <a:endParaRPr lang="en-IN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C9DB63D-2D84-034D-818F-CA3E1F61E0B6}"/>
              </a:ext>
            </a:extLst>
          </p:cNvPr>
          <p:cNvSpPr/>
          <p:nvPr/>
        </p:nvSpPr>
        <p:spPr>
          <a:xfrm>
            <a:off x="4686300" y="3730879"/>
            <a:ext cx="1531620" cy="82296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KYC UPLOAD</a:t>
            </a:r>
            <a:endParaRPr lang="en-IN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8D856F1-BB34-CA63-2418-3358215C8A2E}"/>
              </a:ext>
            </a:extLst>
          </p:cNvPr>
          <p:cNvSpPr/>
          <p:nvPr/>
        </p:nvSpPr>
        <p:spPr>
          <a:xfrm>
            <a:off x="2795026" y="3737610"/>
            <a:ext cx="1531620" cy="82296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AI ADVISOR</a:t>
            </a:r>
            <a:endParaRPr lang="en-IN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8DF2089-B6C8-09AD-35C4-E6F44EC356F1}"/>
              </a:ext>
            </a:extLst>
          </p:cNvPr>
          <p:cNvSpPr/>
          <p:nvPr/>
        </p:nvSpPr>
        <p:spPr>
          <a:xfrm>
            <a:off x="6577574" y="3730879"/>
            <a:ext cx="1531620" cy="82296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FRAUD DETECTION</a:t>
            </a:r>
            <a:endParaRPr lang="en-IN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C8FA09F-D993-5CFC-1275-A90200F02106}"/>
              </a:ext>
            </a:extLst>
          </p:cNvPr>
          <p:cNvSpPr/>
          <p:nvPr/>
        </p:nvSpPr>
        <p:spPr>
          <a:xfrm>
            <a:off x="4843323" y="5795141"/>
            <a:ext cx="1531620" cy="82296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DATABASE</a:t>
            </a:r>
            <a:endParaRPr lang="en-IN" dirty="0"/>
          </a:p>
        </p:txBody>
      </p:sp>
      <p:sp>
        <p:nvSpPr>
          <p:cNvPr id="30" name="Arrow: Right 29">
            <a:extLst>
              <a:ext uri="{FF2B5EF4-FFF2-40B4-BE49-F238E27FC236}">
                <a16:creationId xmlns:a16="http://schemas.microsoft.com/office/drawing/2014/main" id="{46BA6303-09A0-9B67-424B-253657C84B08}"/>
              </a:ext>
            </a:extLst>
          </p:cNvPr>
          <p:cNvSpPr/>
          <p:nvPr/>
        </p:nvSpPr>
        <p:spPr>
          <a:xfrm>
            <a:off x="2614172" y="2297586"/>
            <a:ext cx="362707" cy="228287"/>
          </a:xfrm>
          <a:prstGeom prst="right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7" name="Arrow: Right 36">
            <a:extLst>
              <a:ext uri="{FF2B5EF4-FFF2-40B4-BE49-F238E27FC236}">
                <a16:creationId xmlns:a16="http://schemas.microsoft.com/office/drawing/2014/main" id="{C56C69CF-0F0B-109D-693E-BBD7B583DCC4}"/>
              </a:ext>
            </a:extLst>
          </p:cNvPr>
          <p:cNvSpPr/>
          <p:nvPr/>
        </p:nvSpPr>
        <p:spPr>
          <a:xfrm>
            <a:off x="4954639" y="2297585"/>
            <a:ext cx="362707" cy="228287"/>
          </a:xfrm>
          <a:prstGeom prst="right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8" name="Minus Sign 37">
            <a:extLst>
              <a:ext uri="{FF2B5EF4-FFF2-40B4-BE49-F238E27FC236}">
                <a16:creationId xmlns:a16="http://schemas.microsoft.com/office/drawing/2014/main" id="{0F461C14-6D22-B69D-4A56-398117455B9D}"/>
              </a:ext>
            </a:extLst>
          </p:cNvPr>
          <p:cNvSpPr/>
          <p:nvPr/>
        </p:nvSpPr>
        <p:spPr>
          <a:xfrm>
            <a:off x="3054238" y="2875573"/>
            <a:ext cx="5155697" cy="643517"/>
          </a:xfrm>
          <a:prstGeom prst="mathMinus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0" name="Arrow: Right 39">
            <a:extLst>
              <a:ext uri="{FF2B5EF4-FFF2-40B4-BE49-F238E27FC236}">
                <a16:creationId xmlns:a16="http://schemas.microsoft.com/office/drawing/2014/main" id="{365F40D7-8BB5-3976-304E-43BBD5FEAEA1}"/>
              </a:ext>
            </a:extLst>
          </p:cNvPr>
          <p:cNvSpPr/>
          <p:nvPr/>
        </p:nvSpPr>
        <p:spPr>
          <a:xfrm rot="5400000">
            <a:off x="3783342" y="3404946"/>
            <a:ext cx="362707" cy="228287"/>
          </a:xfrm>
          <a:prstGeom prst="right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4" name="Arrow: Right 43">
            <a:extLst>
              <a:ext uri="{FF2B5EF4-FFF2-40B4-BE49-F238E27FC236}">
                <a16:creationId xmlns:a16="http://schemas.microsoft.com/office/drawing/2014/main" id="{A2041F99-2161-9853-63C9-8604532341F7}"/>
              </a:ext>
            </a:extLst>
          </p:cNvPr>
          <p:cNvSpPr/>
          <p:nvPr/>
        </p:nvSpPr>
        <p:spPr>
          <a:xfrm rot="5400000">
            <a:off x="5313636" y="3404945"/>
            <a:ext cx="362707" cy="228287"/>
          </a:xfrm>
          <a:prstGeom prst="right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6" name="Arrow: Right 45">
            <a:extLst>
              <a:ext uri="{FF2B5EF4-FFF2-40B4-BE49-F238E27FC236}">
                <a16:creationId xmlns:a16="http://schemas.microsoft.com/office/drawing/2014/main" id="{F0AB6DDA-55B0-55FF-DFC9-375377F5A1AA}"/>
              </a:ext>
            </a:extLst>
          </p:cNvPr>
          <p:cNvSpPr/>
          <p:nvPr/>
        </p:nvSpPr>
        <p:spPr>
          <a:xfrm rot="5400000">
            <a:off x="7162030" y="3404944"/>
            <a:ext cx="362707" cy="228287"/>
          </a:xfrm>
          <a:prstGeom prst="right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0" name="Arrow: Right 49">
            <a:extLst>
              <a:ext uri="{FF2B5EF4-FFF2-40B4-BE49-F238E27FC236}">
                <a16:creationId xmlns:a16="http://schemas.microsoft.com/office/drawing/2014/main" id="{5FD73D65-B9D7-CC61-44C2-48F7236030B3}"/>
              </a:ext>
            </a:extLst>
          </p:cNvPr>
          <p:cNvSpPr/>
          <p:nvPr/>
        </p:nvSpPr>
        <p:spPr>
          <a:xfrm rot="5400000">
            <a:off x="3783343" y="4680245"/>
            <a:ext cx="362707" cy="228287"/>
          </a:xfrm>
          <a:prstGeom prst="right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2" name="Arrow: Right 51">
            <a:extLst>
              <a:ext uri="{FF2B5EF4-FFF2-40B4-BE49-F238E27FC236}">
                <a16:creationId xmlns:a16="http://schemas.microsoft.com/office/drawing/2014/main" id="{F6416CA9-05E6-08CB-6DC3-EA7751FFF764}"/>
              </a:ext>
            </a:extLst>
          </p:cNvPr>
          <p:cNvSpPr/>
          <p:nvPr/>
        </p:nvSpPr>
        <p:spPr>
          <a:xfrm rot="5400000">
            <a:off x="5335716" y="4680245"/>
            <a:ext cx="362707" cy="228287"/>
          </a:xfrm>
          <a:prstGeom prst="right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4" name="Arrow: Right 53">
            <a:extLst>
              <a:ext uri="{FF2B5EF4-FFF2-40B4-BE49-F238E27FC236}">
                <a16:creationId xmlns:a16="http://schemas.microsoft.com/office/drawing/2014/main" id="{7FA7735C-DA1A-F19B-1DD4-25C50E9E51FE}"/>
              </a:ext>
            </a:extLst>
          </p:cNvPr>
          <p:cNvSpPr/>
          <p:nvPr/>
        </p:nvSpPr>
        <p:spPr>
          <a:xfrm rot="5400000">
            <a:off x="7162029" y="4685590"/>
            <a:ext cx="362707" cy="228287"/>
          </a:xfrm>
          <a:prstGeom prst="right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8" name="Minus Sign 57">
            <a:extLst>
              <a:ext uri="{FF2B5EF4-FFF2-40B4-BE49-F238E27FC236}">
                <a16:creationId xmlns:a16="http://schemas.microsoft.com/office/drawing/2014/main" id="{18128913-8C54-F7DD-D173-5C6801828025}"/>
              </a:ext>
            </a:extLst>
          </p:cNvPr>
          <p:cNvSpPr/>
          <p:nvPr/>
        </p:nvSpPr>
        <p:spPr>
          <a:xfrm>
            <a:off x="2464301" y="4857374"/>
            <a:ext cx="6690069" cy="643517"/>
          </a:xfrm>
          <a:prstGeom prst="mathMinus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2" name="Arrow: Down 61">
            <a:extLst>
              <a:ext uri="{FF2B5EF4-FFF2-40B4-BE49-F238E27FC236}">
                <a16:creationId xmlns:a16="http://schemas.microsoft.com/office/drawing/2014/main" id="{16B1A0BE-5D84-F615-E221-54F1C61183C1}"/>
              </a:ext>
            </a:extLst>
          </p:cNvPr>
          <p:cNvSpPr/>
          <p:nvPr/>
        </p:nvSpPr>
        <p:spPr>
          <a:xfrm>
            <a:off x="6217920" y="2875573"/>
            <a:ext cx="163629" cy="186631"/>
          </a:xfrm>
          <a:prstGeom prst="down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4" name="Arrow: Down 63">
            <a:extLst>
              <a:ext uri="{FF2B5EF4-FFF2-40B4-BE49-F238E27FC236}">
                <a16:creationId xmlns:a16="http://schemas.microsoft.com/office/drawing/2014/main" id="{BA59C940-9CA0-20F7-BB74-2C4A8F944074}"/>
              </a:ext>
            </a:extLst>
          </p:cNvPr>
          <p:cNvSpPr/>
          <p:nvPr/>
        </p:nvSpPr>
        <p:spPr>
          <a:xfrm>
            <a:off x="5387993" y="5370129"/>
            <a:ext cx="258151" cy="323737"/>
          </a:xfrm>
          <a:prstGeom prst="down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01265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D98611-98CE-DD98-71BF-373DCFBBA1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">
            <a:extLst>
              <a:ext uri="{FF2B5EF4-FFF2-40B4-BE49-F238E27FC236}">
                <a16:creationId xmlns:a16="http://schemas.microsoft.com/office/drawing/2014/main" id="{DDF4BD0B-487E-0EFB-5090-B575D91BDFC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fld id="{85954F8D-B7E6-D640-BC50-D014E954A05D}" type="slidenum">
              <a:rPr lang="en-US" smtClean="0"/>
              <a:t>13</a:t>
            </a:fld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6561CC2-FB8E-0F7F-5BAE-C16EDB634CB3}"/>
              </a:ext>
            </a:extLst>
          </p:cNvPr>
          <p:cNvSpPr/>
          <p:nvPr/>
        </p:nvSpPr>
        <p:spPr>
          <a:xfrm>
            <a:off x="0" y="12699"/>
            <a:ext cx="12192000" cy="93300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b="1" dirty="0">
                <a:solidFill>
                  <a:schemeClr val="bg1"/>
                </a:solidFill>
              </a:rPr>
              <a:t> KNOWLEDGE INSTITUTE OF TECHNOLOGY</a:t>
            </a:r>
          </a:p>
        </p:txBody>
      </p:sp>
      <p:pic>
        <p:nvPicPr>
          <p:cNvPr id="22" name="Picture 2" descr="Knowledge Institute of Technology – Salem Tamilnadu">
            <a:extLst>
              <a:ext uri="{FF2B5EF4-FFF2-40B4-BE49-F238E27FC236}">
                <a16:creationId xmlns:a16="http://schemas.microsoft.com/office/drawing/2014/main" id="{E072C555-A9B9-7CD0-7AB1-B90DD3991F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1663" y="28295"/>
            <a:ext cx="892617" cy="8926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0BCBCE1D-4E99-C95A-9ABF-F1F85E0815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031" y="1256756"/>
            <a:ext cx="6794571" cy="535531"/>
          </a:xfrm>
        </p:spPr>
        <p:txBody>
          <a:bodyPr/>
          <a:lstStyle/>
          <a:p>
            <a:r>
              <a:rPr lang="en-IN" sz="3200" dirty="0"/>
              <a:t>What-if-Analysis</a:t>
            </a:r>
            <a:endParaRPr lang="en-IN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41E71F1C-1FEE-DE9A-98FC-BF9E0AD5E93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04678639"/>
              </p:ext>
            </p:extLst>
          </p:nvPr>
        </p:nvGraphicFramePr>
        <p:xfrm>
          <a:off x="514464" y="1967842"/>
          <a:ext cx="7849888" cy="3097872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229763">
                  <a:extLst>
                    <a:ext uri="{9D8B030D-6E8A-4147-A177-3AD203B41FA5}">
                      <a16:colId xmlns:a16="http://schemas.microsoft.com/office/drawing/2014/main" val="323170507"/>
                    </a:ext>
                  </a:extLst>
                </a:gridCol>
                <a:gridCol w="4620125">
                  <a:extLst>
                    <a:ext uri="{9D8B030D-6E8A-4147-A177-3AD203B41FA5}">
                      <a16:colId xmlns:a16="http://schemas.microsoft.com/office/drawing/2014/main" val="3966762043"/>
                    </a:ext>
                  </a:extLst>
                </a:gridCol>
              </a:tblGrid>
              <a:tr h="1852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Scenario</a:t>
                      </a:r>
                      <a:endParaRPr lang="en-IN" sz="1800"/>
                    </a:p>
                  </a:txBody>
                  <a:tcPr marL="13392" marR="13392" marT="6696" marB="66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Expected System Response</a:t>
                      </a:r>
                      <a:endParaRPr lang="en-IN" sz="1800"/>
                    </a:p>
                  </a:txBody>
                  <a:tcPr marL="13392" marR="13392" marT="6696" marB="6696" anchor="ctr"/>
                </a:tc>
                <a:extLst>
                  <a:ext uri="{0D108BD9-81ED-4DB2-BD59-A6C34878D82A}">
                    <a16:rowId xmlns:a16="http://schemas.microsoft.com/office/drawing/2014/main" val="3411994761"/>
                  </a:ext>
                </a:extLst>
              </a:tr>
              <a:tr h="3284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Invalid Login Credentials</a:t>
                      </a:r>
                      <a:endParaRPr lang="en-IN" sz="1800"/>
                    </a:p>
                  </a:txBody>
                  <a:tcPr marL="13392" marR="13392" marT="6696" marB="66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Access is denied and the user is prompted to log in again.</a:t>
                      </a:r>
                    </a:p>
                  </a:txBody>
                  <a:tcPr marL="13392" marR="13392" marT="6696" marB="6696" anchor="ctr"/>
                </a:tc>
                <a:extLst>
                  <a:ext uri="{0D108BD9-81ED-4DB2-BD59-A6C34878D82A}">
                    <a16:rowId xmlns:a16="http://schemas.microsoft.com/office/drawing/2014/main" val="3834891701"/>
                  </a:ext>
                </a:extLst>
              </a:tr>
              <a:tr h="3284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/>
                        <a:t>No Internet Connection</a:t>
                      </a:r>
                      <a:endParaRPr lang="en-IN" sz="1800" dirty="0"/>
                    </a:p>
                  </a:txBody>
                  <a:tcPr marL="13392" marR="13392" marT="6696" marB="66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AI Advisor becomes unavailable, while local modules continue to function.</a:t>
                      </a:r>
                    </a:p>
                  </a:txBody>
                  <a:tcPr marL="13392" marR="13392" marT="6696" marB="6696" anchor="ctr"/>
                </a:tc>
                <a:extLst>
                  <a:ext uri="{0D108BD9-81ED-4DB2-BD59-A6C34878D82A}">
                    <a16:rowId xmlns:a16="http://schemas.microsoft.com/office/drawing/2014/main" val="1568509458"/>
                  </a:ext>
                </a:extLst>
              </a:tr>
              <a:tr h="3284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Invalid KYC Document</a:t>
                      </a:r>
                      <a:endParaRPr lang="en-IN" sz="1800"/>
                    </a:p>
                  </a:txBody>
                  <a:tcPr marL="13392" marR="13392" marT="6696" marB="66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The system rejects the upload and requests a valid document.</a:t>
                      </a:r>
                    </a:p>
                  </a:txBody>
                  <a:tcPr marL="13392" marR="13392" marT="6696" marB="6696" anchor="ctr"/>
                </a:tc>
                <a:extLst>
                  <a:ext uri="{0D108BD9-81ED-4DB2-BD59-A6C34878D82A}">
                    <a16:rowId xmlns:a16="http://schemas.microsoft.com/office/drawing/2014/main" val="3220482727"/>
                  </a:ext>
                </a:extLst>
              </a:tr>
              <a:tr h="3284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High Fraud Risk Detected</a:t>
                      </a:r>
                      <a:endParaRPr lang="en-IN" sz="1800"/>
                    </a:p>
                  </a:txBody>
                  <a:tcPr marL="13392" marR="13392" marT="6696" marB="66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The system displays a fraud warning and the evaluation result.</a:t>
                      </a:r>
                    </a:p>
                  </a:txBody>
                  <a:tcPr marL="13392" marR="13392" marT="6696" marB="6696" anchor="ctr"/>
                </a:tc>
                <a:extLst>
                  <a:ext uri="{0D108BD9-81ED-4DB2-BD59-A6C34878D82A}">
                    <a16:rowId xmlns:a16="http://schemas.microsoft.com/office/drawing/2014/main" val="3822324804"/>
                  </a:ext>
                </a:extLst>
              </a:tr>
              <a:tr h="3284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Raspberry Pi Restart</a:t>
                      </a:r>
                      <a:endParaRPr lang="en-IN" sz="1800"/>
                    </a:p>
                  </a:txBody>
                  <a:tcPr marL="13392" marR="13392" marT="6696" marB="66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The application reloads and user data remains stored in the database.</a:t>
                      </a:r>
                    </a:p>
                  </a:txBody>
                  <a:tcPr marL="13392" marR="13392" marT="6696" marB="6696" anchor="ctr"/>
                </a:tc>
                <a:extLst>
                  <a:ext uri="{0D108BD9-81ED-4DB2-BD59-A6C34878D82A}">
                    <a16:rowId xmlns:a16="http://schemas.microsoft.com/office/drawing/2014/main" val="1153717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672318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F0FE9B-69E1-4412-FF35-31E959E925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">
            <a:extLst>
              <a:ext uri="{FF2B5EF4-FFF2-40B4-BE49-F238E27FC236}">
                <a16:creationId xmlns:a16="http://schemas.microsoft.com/office/drawing/2014/main" id="{43BAC711-C6DF-11B7-50F5-4B990156C5C5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fld id="{85954F8D-B7E6-D640-BC50-D014E954A05D}" type="slidenum">
              <a:rPr lang="en-US" smtClean="0"/>
              <a:t>14</a:t>
            </a:fld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05D4DAE-8546-EE14-0CA7-063A83072BDF}"/>
              </a:ext>
            </a:extLst>
          </p:cNvPr>
          <p:cNvSpPr/>
          <p:nvPr/>
        </p:nvSpPr>
        <p:spPr>
          <a:xfrm>
            <a:off x="0" y="12699"/>
            <a:ext cx="12192000" cy="93300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b="1" dirty="0">
                <a:solidFill>
                  <a:schemeClr val="bg1"/>
                </a:solidFill>
              </a:rPr>
              <a:t> KNOWLEDGE INSTITUTE OF TECHNOLOGY</a:t>
            </a:r>
          </a:p>
        </p:txBody>
      </p:sp>
      <p:pic>
        <p:nvPicPr>
          <p:cNvPr id="22" name="Picture 2" descr="Knowledge Institute of Technology – Salem Tamilnadu">
            <a:extLst>
              <a:ext uri="{FF2B5EF4-FFF2-40B4-BE49-F238E27FC236}">
                <a16:creationId xmlns:a16="http://schemas.microsoft.com/office/drawing/2014/main" id="{1C6E89FC-C84A-78AE-8431-8FF6AABDD7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1663" y="28295"/>
            <a:ext cx="892617" cy="8926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CE2BD22C-CB15-9270-C611-98DDD9DCC6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031" y="1185781"/>
            <a:ext cx="6794571" cy="535531"/>
          </a:xfrm>
        </p:spPr>
        <p:txBody>
          <a:bodyPr/>
          <a:lstStyle/>
          <a:p>
            <a:r>
              <a:rPr lang="en-IN" sz="3200" dirty="0"/>
              <a:t>Conclusion</a:t>
            </a:r>
            <a:endParaRPr lang="en-IN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0B97FB3-8490-1F45-E4D1-74AF76C62C1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43778" y="1803202"/>
            <a:ext cx="10510046" cy="32515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algn="just">
              <a:buNone/>
            </a:pPr>
            <a:r>
              <a:rPr lang="en-IN" sz="2000" dirty="0"/>
              <a:t>The Smart Financial Services Kiosk with AI Advisory System successfully integrates essential financial services, including AI-based financial guidance, KYC document processing, fraud </a:t>
            </a:r>
            <a:r>
              <a:rPr lang="en-IN" sz="2000"/>
              <a:t>risk detection into </a:t>
            </a:r>
            <a:r>
              <a:rPr lang="en-IN" sz="2000" dirty="0"/>
              <a:t>a single web-based platform. Developed using Raspberry Pi 4, Flask, Python, and the </a:t>
            </a:r>
            <a:r>
              <a:rPr lang="en-IN" sz="2000" dirty="0" err="1"/>
              <a:t>Groq</a:t>
            </a:r>
            <a:r>
              <a:rPr lang="en-IN" sz="2000" dirty="0"/>
              <a:t> API, the system demonstrates a secure, user-friendly, and cost-effective solution for delivering digital financial services. The project highlights the practical application of artificial intelligence and embedded computing in enhancing financial accessibility, improving service efficiency, and providing a scalable foundation for future smart banking solutions. </a:t>
            </a:r>
          </a:p>
        </p:txBody>
      </p:sp>
    </p:spTree>
    <p:extLst>
      <p:ext uri="{BB962C8B-B14F-4D97-AF65-F5344CB8AC3E}">
        <p14:creationId xmlns:p14="http://schemas.microsoft.com/office/powerpoint/2010/main" val="6196351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UB Brand Colors">
      <a:dk1>
        <a:srgbClr val="666666"/>
      </a:dk1>
      <a:lt1>
        <a:srgbClr val="FFFFFF"/>
      </a:lt1>
      <a:dk2>
        <a:srgbClr val="005BBB"/>
      </a:dk2>
      <a:lt2>
        <a:srgbClr val="FFFFFF"/>
      </a:lt2>
      <a:accent1>
        <a:srgbClr val="005BBB"/>
      </a:accent1>
      <a:accent2>
        <a:srgbClr val="41B6E6"/>
      </a:accent2>
      <a:accent3>
        <a:srgbClr val="E56D54"/>
      </a:accent3>
      <a:accent4>
        <a:srgbClr val="666666"/>
      </a:accent4>
      <a:accent5>
        <a:srgbClr val="007681"/>
      </a:accent5>
      <a:accent6>
        <a:srgbClr val="003E51"/>
      </a:accent6>
      <a:hlink>
        <a:srgbClr val="005BBB"/>
      </a:hlink>
      <a:folHlink>
        <a:srgbClr val="D86A4E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871</TotalTime>
  <Words>1055</Words>
  <Application>Microsoft Office PowerPoint</Application>
  <PresentationFormat>Widescreen</PresentationFormat>
  <Paragraphs>182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Arial Regular</vt:lpstr>
      <vt:lpstr>Georgia</vt:lpstr>
      <vt:lpstr>System Font Regular</vt:lpstr>
      <vt:lpstr>Office Theme</vt:lpstr>
      <vt:lpstr>Smart financial services kiosk with ai advisory system</vt:lpstr>
      <vt:lpstr>Smart financial services kiosk with ai advisory system</vt:lpstr>
      <vt:lpstr>Engineering Design Process</vt:lpstr>
      <vt:lpstr>Process Table</vt:lpstr>
      <vt:lpstr>List of Activities</vt:lpstr>
      <vt:lpstr>Activity Duration Table</vt:lpstr>
      <vt:lpstr>Activity Precedence Table</vt:lpstr>
      <vt:lpstr>Glossary:</vt:lpstr>
      <vt:lpstr>Core Technologies &amp; Principles </vt:lpstr>
      <vt:lpstr>Concept Rules &amp; Laws</vt:lpstr>
      <vt:lpstr>System Components &amp; Technologies</vt:lpstr>
      <vt:lpstr>PowerPoint Presentation</vt:lpstr>
      <vt:lpstr>What-if-Analysis</vt:lpstr>
      <vt:lpstr>Conclusion</vt:lpstr>
    </vt:vector>
  </TitlesOfParts>
  <Manager/>
  <Company>University at Buffalo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UB PowerPoint Presentation</dc:title>
  <dc:subject/>
  <dc:creator>Division of University Communications</dc:creator>
  <cp:keywords/>
  <dc:description/>
  <cp:lastModifiedBy>Naveen Kumar</cp:lastModifiedBy>
  <cp:revision>91</cp:revision>
  <dcterms:created xsi:type="dcterms:W3CDTF">2019-04-04T19:20:28Z</dcterms:created>
  <dcterms:modified xsi:type="dcterms:W3CDTF">2026-09-04T09:49:16Z</dcterms:modified>
  <cp:category/>
</cp:coreProperties>
</file>